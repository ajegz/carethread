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2713ab721434fcf" /><Relationship Type="http://schemas.openxmlformats.org/officeDocument/2006/relationships/extended-properties" Target="/docProps/app.xml" Id="Rc2806e37fc704f22" /><Relationship Type="http://schemas.openxmlformats.org/officeDocument/2006/relationships/officeDocument" Target="/ppt/presentation.xml" Id="R3956d9e0baeb4648" /></Relationships>
</file>

<file path=ppt/presentation.xml><?xml version="1.0" encoding="utf-8"?>
<p:presentation xmlns:p="http://schemas.openxmlformats.org/presentationml/2006/main">
  <p:sldMasterIdLst>
    <p:sldMasterId xmlns:r="http://schemas.openxmlformats.org/officeDocument/2006/relationships" id="2147483648" r:id="R34f8d49e994c4c7f"/>
  </p:sldMasterIdLst>
  <p:notesMasterIdLst>
    <p:notesMasterId xmlns:r="http://schemas.openxmlformats.org/officeDocument/2006/relationships" r:id="R051955d73b3e4caa"/>
  </p:notesMasterIdLst>
  <p:sldIdLst>
    <p:sldId xmlns:r="http://schemas.openxmlformats.org/officeDocument/2006/relationships" id="256" r:id="R56cdb55c552e447a"/>
    <p:sldId xmlns:r="http://schemas.openxmlformats.org/officeDocument/2006/relationships" id="257" r:id="Rb862e884cf9c4c65"/>
    <p:sldId xmlns:r="http://schemas.openxmlformats.org/officeDocument/2006/relationships" id="258" r:id="R5e6e39b89f4a4290"/>
    <p:sldId xmlns:r="http://schemas.openxmlformats.org/officeDocument/2006/relationships" id="259" r:id="R33a6fe1184944333"/>
    <p:sldId xmlns:r="http://schemas.openxmlformats.org/officeDocument/2006/relationships" id="260" r:id="R29f2f867602246a4"/>
    <p:sldId xmlns:r="http://schemas.openxmlformats.org/officeDocument/2006/relationships" id="261" r:id="R96cacb03ab2f4469"/>
    <p:sldId xmlns:r="http://schemas.openxmlformats.org/officeDocument/2006/relationships" id="262" r:id="R617b2c7e29b44a95"/>
    <p:sldId xmlns:r="http://schemas.openxmlformats.org/officeDocument/2006/relationships" id="263" r:id="R7178bf69fe4449d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44c8e525cb43fc" /><Relationship Type="http://schemas.openxmlformats.org/officeDocument/2006/relationships/slideMaster" Target="/ppt/slideMasters/slideMaster1.xml" Id="R34f8d49e994c4c7f" /><Relationship Type="http://schemas.openxmlformats.org/officeDocument/2006/relationships/notesMaster" Target="/ppt/notesMasters/notesMaster1.xml" Id="R051955d73b3e4caa" /><Relationship Type="http://schemas.openxmlformats.org/officeDocument/2006/relationships/presProps" Target="/ppt/presProps.xml" Id="R1a6577eb2461471c" /><Relationship Type="http://schemas.openxmlformats.org/officeDocument/2006/relationships/tableStyles" Target="/ppt/tableStyles.xml" Id="R8be93e25ea714d9f" /><Relationship Type="http://schemas.openxmlformats.org/officeDocument/2006/relationships/slide" Target="/ppt/slides/slide1.xml" Id="R56cdb55c552e447a" /><Relationship Type="http://schemas.openxmlformats.org/officeDocument/2006/relationships/slide" Target="/ppt/slides/slide2.xml" Id="Rb862e884cf9c4c65" /><Relationship Type="http://schemas.openxmlformats.org/officeDocument/2006/relationships/slide" Target="/ppt/slides/slide3.xml" Id="R5e6e39b89f4a4290" /><Relationship Type="http://schemas.openxmlformats.org/officeDocument/2006/relationships/slide" Target="/ppt/slides/slide4.xml" Id="R33a6fe1184944333" /><Relationship Type="http://schemas.openxmlformats.org/officeDocument/2006/relationships/slide" Target="/ppt/slides/slide5.xml" Id="R29f2f867602246a4" /><Relationship Type="http://schemas.openxmlformats.org/officeDocument/2006/relationships/slide" Target="/ppt/slides/slide6.xml" Id="R96cacb03ab2f4469" /><Relationship Type="http://schemas.openxmlformats.org/officeDocument/2006/relationships/slide" Target="/ppt/slides/slide7.xml" Id="R617b2c7e29b44a95" /><Relationship Type="http://schemas.openxmlformats.org/officeDocument/2006/relationships/slide" Target="/ppt/slides/slide8.xml" Id="R7178bf69fe4449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5834b6032b7430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c53ec6f007485d" /><Relationship Type="http://schemas.openxmlformats.org/officeDocument/2006/relationships/notesMaster" Target="/ppt/notesMasters/notesMaster1.xml" Id="Rbc79009d990049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413c4f27c14bbd" /><Relationship Type="http://schemas.openxmlformats.org/officeDocument/2006/relationships/notesMaster" Target="/ppt/notesMasters/notesMaster1.xml" Id="R205b917e413d4334" /></Relationships>
</file>

<file path=ppt/notesSlides/_rels/notesSlide3.xml.rels>&#65279;<?xml version="1.0" encoding="utf-8"?><Relationships xmlns="http://schemas.openxmlformats.org/package/2006/relationships"><Relationship Type="http://schemas.openxmlformats.org/officeDocument/2006/relationships/slide" Target="/ppt/slides/slide3.xml" Id="R45c6201d4d074a8e" /><Relationship Type="http://schemas.openxmlformats.org/officeDocument/2006/relationships/notesMaster" Target="/ppt/notesMasters/notesMaster1.xml" Id="Rfffbfc8225004f9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9ab847cf4f4ba4" /><Relationship Type="http://schemas.openxmlformats.org/officeDocument/2006/relationships/notesMaster" Target="/ppt/notesMasters/notesMaster1.xml" Id="Radaa8f1214184e78" /></Relationships>
</file>

<file path=ppt/notesSlides/_rels/notesSlide5.xml.rels>&#65279;<?xml version="1.0" encoding="utf-8"?><Relationships xmlns="http://schemas.openxmlformats.org/package/2006/relationships"><Relationship Type="http://schemas.openxmlformats.org/officeDocument/2006/relationships/slide" Target="/ppt/slides/slide5.xml" Id="Rbc2e9bc815c54102" /><Relationship Type="http://schemas.openxmlformats.org/officeDocument/2006/relationships/notesMaster" Target="/ppt/notesMasters/notesMaster1.xml" Id="Rec419ed99d164131"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f8ec45c2dc4d41" /><Relationship Type="http://schemas.openxmlformats.org/officeDocument/2006/relationships/notesMaster" Target="/ppt/notesMasters/notesMaster1.xml" Id="R6912880170a742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8d40ddc08fb4798" /><Relationship Type="http://schemas.openxmlformats.org/officeDocument/2006/relationships/notesMaster" Target="/ppt/notesMasters/notesMaster1.xml" Id="R10f42e17da69401e"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200d689000430d" /><Relationship Type="http://schemas.openxmlformats.org/officeDocument/2006/relationships/notesMaster" Target="/ppt/notesMasters/notesMaster1.xml" Id="Ra78ac509950d40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CareThread is a clinical communication simulation prototype. No clinical outcome claims. Artwork generated with the built-in imagegen tool, September 30, 2026, and is conceptual. Sources: CLINICAL-VOICE-PROJECT-BRIEF.md and BUILD-AND-DELIVERY-PLAN.md.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AHRQ TeamSTEPPS handoff guidance covers uncertainty, contingencies and acknowledged transfer of responsibility. This example is fictional and is not clinical advice. https://www.ahrq.gov/teamstepps-program/curriculum/communication/tools/handoff.html ; https://www.ahrq.gov/teamstepps-program/curriculum/communication/tools/checkback.html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Synthetic scenario replay. These are clinician-stated details in a fictional handoff, not a treatment recommendation. Every field should link to its source turn in the 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Prototype state semantics, not validated clinical practice. Acceptance requires the current version and required fields. A clinician-reported completion does not mean the software independently observed the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per build plan: Next.js, React, TypeScript, AssemblyAI managed Voice Agent API, server-side token endpoint and same-browser persistence. https://www.assemblyai.com/docs/voice-agents/voice-agent-api/browser-integration ; https://www.assemblyai.com/docs/voice-agents/voice-agent-api/tools/client-side-tools . Local persistence does not imply offline voice processing or a hospital-grade privacy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Initial customer and subscription model are hypotheses, not existing customers or revenue. Next milestone is clinician feedback on simulation usability, followed by comparative workflow evaluation. Clinical deployment would require additional validation, authentication, privacy/security work and institutional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{"status":"recorded","headline":"20 deterministic tests passed","lines":["State-engine checks: 20 / 20 passing","Voice session connected; full flow still under review","Clinical outcomes and live reliability: not established"],"evidence_note":"Parent reported npm test 20/20 deterministic state-engine tests passed; npm run typecheck passed at this stage; valid token and session.ready confirmed. Synthetic speech transcribed a complete dictated task. End-to-end tool behavior, interruption/latency measurements, and clinical validity were not established by this report. No miss-rate or false-alert percentages are claimed.","source":"Parent verification, 2026-09-30"}</a:t>
            </a:r>
          </a:p>
          <a:p xmlns:a="http://schemas.openxmlformats.org/drawingml/2006/main">
            <a:r>
              <a:t>No performance or benefit is inferred from a passing state-engine test. Failures, scenario counts and test conditions belong in the submission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scope statement. Prototype demonstrates communication state and evidence, not diagnosis, treatment, discharge authorization, hospital deployment or improved health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5a655145e742d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a305189d934b8c" /><Relationship Type="http://schemas.openxmlformats.org/officeDocument/2006/relationships/slideLayout" Target="/ppt/slideLayouts/slideLayout1.xml" Id="R600d026025c44b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00d026025c44b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9ace8a145db459d" /><Relationship Type="http://schemas.openxmlformats.org/officeDocument/2006/relationships/image" Target="/ppt/media/image.png" Id="Rd491738052644bf3" /><Relationship Type="http://schemas.openxmlformats.org/officeDocument/2006/relationships/notesSlide" Target="/ppt/notesSlides/notesSlide1.xml" Id="R24abdf8870a74f9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cd8be75945e4401" /><Relationship Type="http://schemas.openxmlformats.org/officeDocument/2006/relationships/notesSlide" Target="/ppt/notesSlides/notesSlide2.xml" Id="R8bfe54881ffc420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84572cd157645c3" /><Relationship Type="http://schemas.openxmlformats.org/officeDocument/2006/relationships/notesSlide" Target="/ppt/notesSlides/notesSlide3.xml" Id="R7b64cfddab814e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9a59041f7854021" /><Relationship Type="http://schemas.openxmlformats.org/officeDocument/2006/relationships/notesSlide" Target="/ppt/notesSlides/notesSlide4.xml" Id="R3a73c0e959c0488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243776246f74c4e" /><Relationship Type="http://schemas.openxmlformats.org/officeDocument/2006/relationships/notesSlide" Target="/ppt/notesSlides/notesSlide5.xml" Id="R80150db646214dd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a447011472f4445" /><Relationship Type="http://schemas.openxmlformats.org/officeDocument/2006/relationships/notesSlide" Target="/ppt/notesSlides/notesSlide6.xml" Id="R1542c5b298134dd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167e674ff4f41e6" /><Relationship Type="http://schemas.openxmlformats.org/officeDocument/2006/relationships/notesSlide" Target="/ppt/notesSlides/notesSlide7.xml" Id="R3f3ce1bd9e7048a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3bd4a609b8f4ca3" /><Relationship Type="http://schemas.openxmlformats.org/officeDocument/2006/relationships/notesSlide" Target="/ppt/notesSlides/notesSlide8.xml" Id="Ree78d1d176ce491c" /></Relationships>
</file>

<file path=ppt/slides/slide1.xml><?xml version="1.0" encoding="utf-8"?>
<p:sld xmlns:p="http://schemas.openxmlformats.org/presentationml/2006/main">
  <p:cSld>
    <p:bg>
      <p:bgPr>
        <a:solidFill xmlns:a="http://schemas.openxmlformats.org/drawingml/2006/main">
          <a:srgbClr val="073A37"/>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d491738052644bf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D2DEC1-2974-4153-95ED-757B394B9188}"/>
              </a:ext>
            </a:extLst>
          </p:cNvPr>
          <p:cNvSpPr>
            <a:spLocks xmlns:a="http://schemas.openxmlformats.org/drawingml/2006/main" noGrp="1"/>
          </p:cNvSpPr>
          <p:nvPr/>
        </p:nvSpPr>
        <p:spPr>
          <a:xfrm xmlns:a="http://schemas.openxmlformats.org/drawingml/2006/main">
            <a:off x="628650" y="590550"/>
            <a:ext cx="904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A9C4BA"/>
                </a:solidFill>
                <a:latin typeface="Arial"/>
                <a:ea typeface="Arial"/>
                <a:cs typeface="Arial"/>
              </a:defRPr>
            </a:pPr>
            <a:r>
              <a:rPr sz="1425" b="1">
                <a:solidFill>
                  <a:srgbClr val="A9C4BA"/>
                </a:solidFill>
                <a:latin typeface="Arial"/>
                <a:ea typeface="Arial"/>
                <a:cs typeface="Arial"/>
              </a:rPr>
              <a:t>ASSEMBLYAI VOICE AGENT HACKATHON</a:t>
            </a:r>
          </a:p>
        </p:txBody>
      </p:sp>
      <p:sp>
        <p:nvSpPr>
          <p:cNvPr id="3" name="">
            <a:extLst xmlns:a="http://schemas.openxmlformats.org/drawingml/2006/main">
              <a:ext uri="{FF2B5EF4-FFF2-40B4-BE49-F238E27FC236}">
                <a16:creationId xmlns:a16="http://schemas.microsoft.com/office/drawing/2014/main" id="{3A109411-6C26-4B71-8957-4FC93F45FCA8}"/>
              </a:ext>
            </a:extLst>
          </p:cNvPr>
          <p:cNvSpPr>
            <a:spLocks xmlns:a="http://schemas.openxmlformats.org/drawingml/2006/main" noGrp="1"/>
          </p:cNvSpPr>
          <p:nvPr/>
        </p:nvSpPr>
        <p:spPr>
          <a:xfrm xmlns:a="http://schemas.openxmlformats.org/drawingml/2006/main">
            <a:off x="571500" y="2047875"/>
            <a:ext cx="7524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FFFFFF"/>
                </a:solidFill>
                <a:latin typeface="Arial"/>
                <a:ea typeface="Arial"/>
                <a:cs typeface="Arial"/>
              </a:defRPr>
            </a:pPr>
            <a:r>
              <a:rPr sz="6600" b="1">
                <a:solidFill>
                  <a:srgbClr val="FFFFFF"/>
                </a:solidFill>
                <a:latin typeface="Arial"/>
                <a:ea typeface="Arial"/>
                <a:cs typeface="Arial"/>
              </a:rPr>
              <a:t>CareThread</a:t>
            </a:r>
          </a:p>
        </p:txBody>
      </p:sp>
      <p:sp>
        <p:nvSpPr>
          <p:cNvPr id="4" name="">
            <a:extLst xmlns:a="http://schemas.openxmlformats.org/drawingml/2006/main">
              <a:ext uri="{FF2B5EF4-FFF2-40B4-BE49-F238E27FC236}">
                <a16:creationId xmlns:a16="http://schemas.microsoft.com/office/drawing/2014/main" id="{B32C6BB8-E748-4663-945D-48A6EA8084C7}"/>
              </a:ext>
            </a:extLst>
          </p:cNvPr>
          <p:cNvSpPr>
            <a:spLocks xmlns:a="http://schemas.openxmlformats.org/drawingml/2006/main" noGrp="1"/>
          </p:cNvSpPr>
          <p:nvPr/>
        </p:nvSpPr>
        <p:spPr>
          <a:xfrm xmlns:a="http://schemas.openxmlformats.org/drawingml/2006/main">
            <a:off x="609600" y="3238500"/>
            <a:ext cx="6572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FFFFFF"/>
                </a:solidFill>
                <a:latin typeface="Arial"/>
                <a:ea typeface="Arial"/>
                <a:cs typeface="Arial"/>
              </a:defRPr>
            </a:pPr>
            <a:r>
              <a:rPr sz="3225" b="0">
                <a:solidFill>
                  <a:srgbClr val="FFFFFF"/>
                </a:solidFill>
                <a:latin typeface="Arial"/>
                <a:ea typeface="Arial"/>
                <a:cs typeface="Arial"/>
              </a:rPr>
              <a:t>Clinical handoffs with</a:t>
            </a:r>
          </a:p>
          <a:p xmlns:a="http://schemas.openxmlformats.org/drawingml/2006/main">
            <a:pPr>
              <a:defRPr sz="3225" b="0">
                <a:solidFill>
                  <a:srgbClr val="FFFFFF"/>
                </a:solidFill>
                <a:latin typeface="Arial"/>
                <a:ea typeface="Arial"/>
                <a:cs typeface="Arial"/>
              </a:defRPr>
            </a:pPr>
            <a:r>
              <a:rPr sz="3225" b="0">
                <a:solidFill>
                  <a:srgbClr val="FFFFFF"/>
                </a:solidFill>
                <a:latin typeface="Arial"/>
                <a:ea typeface="Arial"/>
                <a:cs typeface="Arial"/>
              </a:rPr>
              <a:t>responsibility intact</a:t>
            </a:r>
          </a:p>
        </p:txBody>
      </p:sp>
      <p:sp>
        <p:nvSpPr>
          <p:cNvPr id="5" name="">
            <a:extLst xmlns:a="http://schemas.openxmlformats.org/drawingml/2006/main">
              <a:ext uri="{FF2B5EF4-FFF2-40B4-BE49-F238E27FC236}">
                <a16:creationId xmlns:a16="http://schemas.microsoft.com/office/drawing/2014/main" id="{D2C0D40C-C63D-4541-B724-5BABFAC514D3}"/>
              </a:ext>
            </a:extLst>
          </p:cNvPr>
          <p:cNvSpPr>
            <a:spLocks xmlns:a="http://schemas.openxmlformats.org/drawingml/2006/main" noGrp="1"/>
          </p:cNvSpPr>
          <p:nvPr/>
        </p:nvSpPr>
        <p:spPr>
          <a:xfrm xmlns:a="http://schemas.openxmlformats.org/drawingml/2006/main">
            <a:off x="628650" y="5543550"/>
            <a:ext cx="647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7FF78"/>
                </a:solidFill>
                <a:latin typeface="Arial"/>
                <a:ea typeface="Arial"/>
                <a:cs typeface="Arial"/>
              </a:defRPr>
            </a:pPr>
            <a:r>
              <a:rPr sz="1650" b="0">
                <a:solidFill>
                  <a:srgbClr val="D7FF78"/>
                </a:solidFill>
                <a:latin typeface="Arial"/>
                <a:ea typeface="Arial"/>
                <a:cs typeface="Arial"/>
              </a:rPr>
              <a:t>Clinical communication simulation</a:t>
            </a:r>
          </a:p>
          <a:p xmlns:a="http://schemas.openxmlformats.org/drawingml/2006/main">
            <a:pPr>
              <a:defRPr sz="1650" b="0">
                <a:solidFill>
                  <a:srgbClr val="D7FF78"/>
                </a:solidFill>
                <a:latin typeface="Arial"/>
                <a:ea typeface="Arial"/>
                <a:cs typeface="Arial"/>
              </a:defRPr>
            </a:pPr>
            <a:r>
              <a:rPr sz="1650" b="0">
                <a:solidFill>
                  <a:srgbClr val="D7FF78"/>
                </a:solidFill>
                <a:latin typeface="Arial"/>
                <a:ea typeface="Arial"/>
                <a:cs typeface="Arial"/>
              </a:rPr>
              <a:t>Synthetic data only</a:t>
            </a:r>
          </a:p>
        </p:txBody>
      </p:sp>
    </p:spTree>
    <p:extLst>
      <p:ext uri="{BB962C8B-B14F-4D97-AF65-F5344CB8AC3E}">
        <p14:creationId xmlns:p14="http://schemas.microsoft.com/office/powerpoint/2010/main" val="1199223612"/>
      </p:ext>
    </p:extLst>
  </p:cSld>
</p:sld>
</file>

<file path=ppt/slides/slide2.xml><?xml version="1.0" encoding="utf-8"?>
<p:sld xmlns:p="http://schemas.openxmlformats.org/presentationml/2006/main">
  <p:cSld>
    <p:bg>
      <p:bgPr>
        <a:solidFill xmlns:a="http://schemas.openxmlformats.org/drawingml/2006/main">
          <a:srgbClr val="F5F8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3A9013-A6AC-4746-BB1D-604A0FC0A52D}"/>
              </a:ext>
            </a:extLst>
          </p:cNvPr>
          <p:cNvSpPr>
            <a:spLocks xmlns:a="http://schemas.openxmlformats.org/drawingml/2006/main" noGrp="1"/>
          </p:cNvSpPr>
          <p:nvPr/>
        </p:nvSpPr>
        <p:spPr>
          <a:xfrm xmlns:a="http://schemas.openxmlformats.org/drawingml/2006/main">
            <a:off x="628650" y="3619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8716B"/>
                </a:solidFill>
                <a:latin typeface="Arial"/>
                <a:ea typeface="Arial"/>
                <a:cs typeface="Arial"/>
              </a:defRPr>
            </a:pPr>
            <a:r>
              <a:rPr sz="1350" b="1">
                <a:solidFill>
                  <a:srgbClr val="58716B"/>
                </a:solidFill>
                <a:latin typeface="Arial"/>
                <a:ea typeface="Arial"/>
                <a:cs typeface="Arial"/>
              </a:rPr>
              <a:t>CARETHREAD</a:t>
            </a:r>
          </a:p>
        </p:txBody>
      </p:sp>
      <p:sp>
        <p:nvSpPr>
          <p:cNvPr id="2" name="">
            <a:extLst xmlns:a="http://schemas.openxmlformats.org/drawingml/2006/main">
              <a:ext uri="{FF2B5EF4-FFF2-40B4-BE49-F238E27FC236}">
                <a16:creationId xmlns:a16="http://schemas.microsoft.com/office/drawing/2014/main" id="{7CE99188-419E-4AC6-B022-F879F51D2B12}"/>
              </a:ext>
            </a:extLst>
          </p:cNvPr>
          <p:cNvSpPr>
            <a:spLocks xmlns:a="http://schemas.openxmlformats.org/drawingml/2006/main" noGrp="1"/>
          </p:cNvSpPr>
          <p:nvPr/>
        </p:nvSpPr>
        <p:spPr>
          <a:xfrm xmlns:a="http://schemas.openxmlformats.org/drawingml/2006/main">
            <a:off x="628650" y="1000125"/>
            <a:ext cx="109347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23D39"/>
                </a:solidFill>
                <a:latin typeface="Arial"/>
                <a:ea typeface="Arial"/>
                <a:cs typeface="Arial"/>
              </a:defRPr>
            </a:pPr>
            <a:r>
              <a:rPr sz="3900" b="1">
                <a:solidFill>
                  <a:srgbClr val="123D39"/>
                </a:solidFill>
                <a:latin typeface="Arial"/>
                <a:ea typeface="Arial"/>
                <a:cs typeface="Arial"/>
              </a:rPr>
              <a:t>Uncertainty can disappear in a handoff</a:t>
            </a:r>
          </a:p>
        </p:txBody>
      </p:sp>
      <p:sp>
        <p:nvSpPr>
          <p:cNvPr id="3" name="">
            <a:extLst xmlns:a="http://schemas.openxmlformats.org/drawingml/2006/main">
              <a:ext uri="{FF2B5EF4-FFF2-40B4-BE49-F238E27FC236}">
                <a16:creationId xmlns:a16="http://schemas.microsoft.com/office/drawing/2014/main" id="{C21DA6D4-7322-4479-82F3-B2AF0E003CB8}"/>
              </a:ext>
            </a:extLst>
          </p:cNvPr>
          <p:cNvSpPr>
            <a:spLocks xmlns:a="http://schemas.openxmlformats.org/drawingml/2006/main" noGrp="1"/>
          </p:cNvSpPr>
          <p:nvPr/>
        </p:nvSpPr>
        <p:spPr>
          <a:xfrm xmlns:a="http://schemas.openxmlformats.org/drawingml/2006/main">
            <a:off x="10620375" y="6210300"/>
            <a:ext cx="1000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B"/>
                </a:solidFill>
                <a:latin typeface="Arial"/>
                <a:ea typeface="Arial"/>
                <a:cs typeface="Arial"/>
              </a:defRPr>
            </a:pPr>
            <a:r>
              <a:rPr sz="1200" b="0">
                <a:solidFill>
                  <a:srgbClr val="58716B"/>
                </a:solidFill>
                <a:latin typeface="Arial"/>
                <a:ea typeface="Arial"/>
                <a:cs typeface="Arial"/>
              </a:rPr>
              <a:t>02 / 08</a:t>
            </a:r>
          </a:p>
        </p:txBody>
      </p:sp>
      <p:sp>
        <p:nvSpPr>
          <p:cNvPr id="4" name="">
            <a:extLst xmlns:a="http://schemas.openxmlformats.org/drawingml/2006/main">
              <a:ext uri="{FF2B5EF4-FFF2-40B4-BE49-F238E27FC236}">
                <a16:creationId xmlns:a16="http://schemas.microsoft.com/office/drawing/2014/main" id="{12A53D42-1FB0-4770-A144-86D3157E6642}"/>
              </a:ext>
            </a:extLst>
          </p:cNvPr>
          <p:cNvSpPr>
            <a:spLocks xmlns:a="http://schemas.openxmlformats.org/drawingml/2006/main" noGrp="1"/>
          </p:cNvSpPr>
          <p:nvPr/>
        </p:nvSpPr>
        <p:spPr>
          <a:xfrm xmlns:a="http://schemas.openxmlformats.org/drawingml/2006/main">
            <a:off x="628650" y="24003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58716B"/>
                </a:solidFill>
                <a:latin typeface="Arial"/>
                <a:ea typeface="Arial"/>
                <a:cs typeface="Arial"/>
              </a:defRPr>
            </a:pPr>
            <a:r>
              <a:rPr sz="1500" b="1">
                <a:solidFill>
                  <a:srgbClr val="58716B"/>
                </a:solidFill>
                <a:latin typeface="Arial"/>
                <a:ea typeface="Arial"/>
                <a:cs typeface="Arial"/>
              </a:rPr>
              <a:t>SENDER</a:t>
            </a:r>
          </a:p>
        </p:txBody>
      </p:sp>
      <p:sp>
        <p:nvSpPr>
          <p:cNvPr id="5" name="">
            <a:extLst xmlns:a="http://schemas.openxmlformats.org/drawingml/2006/main">
              <a:ext uri="{FF2B5EF4-FFF2-40B4-BE49-F238E27FC236}">
                <a16:creationId xmlns:a16="http://schemas.microsoft.com/office/drawing/2014/main" id="{C2EDA75A-E328-481B-A037-17A7B49B353F}"/>
              </a:ext>
            </a:extLst>
          </p:cNvPr>
          <p:cNvSpPr>
            <a:spLocks xmlns:a="http://schemas.openxmlformats.org/drawingml/2006/main" noGrp="1"/>
          </p:cNvSpPr>
          <p:nvPr/>
        </p:nvSpPr>
        <p:spPr>
          <a:xfrm xmlns:a="http://schemas.openxmlformats.org/drawingml/2006/main">
            <a:off x="590550" y="2971800"/>
            <a:ext cx="51816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123D39"/>
                </a:solidFill>
                <a:latin typeface="Arial"/>
                <a:ea typeface="Arial"/>
                <a:cs typeface="Arial"/>
              </a:defRPr>
            </a:pPr>
            <a:r>
              <a:rPr sz="2775" b="0">
                <a:solidFill>
                  <a:srgbClr val="123D39"/>
                </a:solidFill>
                <a:latin typeface="Arial"/>
                <a:ea typeface="Arial"/>
                <a:cs typeface="Arial"/>
              </a:rPr>
              <a:t>“The scan result is pending.</a:t>
            </a:r>
          </a:p>
          <a:p xmlns:a="http://schemas.openxmlformats.org/drawingml/2006/main">
            <a:pPr>
              <a:defRPr sz="2775" b="0">
                <a:solidFill>
                  <a:srgbClr val="123D39"/>
                </a:solidFill>
                <a:latin typeface="Arial"/>
                <a:ea typeface="Arial"/>
                <a:cs typeface="Arial"/>
              </a:defRPr>
            </a:pPr>
            <a:r>
              <a:rPr sz="2775" b="0">
                <a:solidFill>
                  <a:srgbClr val="123D39"/>
                </a:solidFill>
                <a:latin typeface="Arial"/>
                <a:ea typeface="Arial"/>
                <a:cs typeface="Arial"/>
              </a:rPr>
              <a:t>Discharge is waiting</a:t>
            </a:r>
          </a:p>
          <a:p xmlns:a="http://schemas.openxmlformats.org/drawingml/2006/main">
            <a:pPr>
              <a:defRPr sz="2775" b="0">
                <a:solidFill>
                  <a:srgbClr val="123D39"/>
                </a:solidFill>
                <a:latin typeface="Arial"/>
                <a:ea typeface="Arial"/>
                <a:cs typeface="Arial"/>
              </a:defRPr>
            </a:pPr>
            <a:r>
              <a:rPr sz="2775" b="0">
                <a:solidFill>
                  <a:srgbClr val="123D39"/>
                </a:solidFill>
                <a:latin typeface="Arial"/>
                <a:ea typeface="Arial"/>
                <a:cs typeface="Arial"/>
              </a:rPr>
              <a:t>for the review.”</a:t>
            </a:r>
          </a:p>
        </p:txBody>
      </p:sp>
      <p:sp>
        <p:nvSpPr>
          <p:cNvPr id="6" name="">
            <a:extLst xmlns:a="http://schemas.openxmlformats.org/drawingml/2006/main">
              <a:ext uri="{FF2B5EF4-FFF2-40B4-BE49-F238E27FC236}">
                <a16:creationId xmlns:a16="http://schemas.microsoft.com/office/drawing/2014/main" id="{6CA3704A-04E6-4E5A-9EDF-78F754881C1D}"/>
              </a:ext>
            </a:extLst>
          </p:cNvPr>
          <p:cNvSpPr>
            <a:spLocks xmlns:a="http://schemas.openxmlformats.org/drawingml/2006/main" noGrp="1"/>
          </p:cNvSpPr>
          <p:nvPr/>
        </p:nvSpPr>
        <p:spPr>
          <a:xfrm xmlns:a="http://schemas.openxmlformats.org/drawingml/2006/main">
            <a:off x="6419850" y="24003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58716B"/>
                </a:solidFill>
                <a:latin typeface="Arial"/>
                <a:ea typeface="Arial"/>
                <a:cs typeface="Arial"/>
              </a:defRPr>
            </a:pPr>
            <a:r>
              <a:rPr sz="1500" b="1">
                <a:solidFill>
                  <a:srgbClr val="58716B"/>
                </a:solidFill>
                <a:latin typeface="Arial"/>
                <a:ea typeface="Arial"/>
                <a:cs typeface="Arial"/>
              </a:rPr>
              <a:t>RECEIVER</a:t>
            </a:r>
          </a:p>
        </p:txBody>
      </p:sp>
      <p:sp>
        <p:nvSpPr>
          <p:cNvPr id="7" name="">
            <a:extLst xmlns:a="http://schemas.openxmlformats.org/drawingml/2006/main">
              <a:ext uri="{FF2B5EF4-FFF2-40B4-BE49-F238E27FC236}">
                <a16:creationId xmlns:a16="http://schemas.microsoft.com/office/drawing/2014/main" id="{05AED115-44E4-4042-819C-BA27829E6809}"/>
              </a:ext>
            </a:extLst>
          </p:cNvPr>
          <p:cNvSpPr>
            <a:spLocks xmlns:a="http://schemas.openxmlformats.org/drawingml/2006/main" noGrp="1"/>
          </p:cNvSpPr>
          <p:nvPr/>
        </p:nvSpPr>
        <p:spPr>
          <a:xfrm xmlns:a="http://schemas.openxmlformats.org/drawingml/2006/main">
            <a:off x="6381750" y="2971800"/>
            <a:ext cx="5191125"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123D39"/>
                </a:solidFill>
                <a:latin typeface="Arial"/>
                <a:ea typeface="Arial"/>
                <a:cs typeface="Arial"/>
              </a:defRPr>
            </a:pPr>
            <a:r>
              <a:rPr sz="2775" b="0">
                <a:solidFill>
                  <a:srgbClr val="123D39"/>
                </a:solidFill>
                <a:latin typeface="Arial"/>
                <a:ea typeface="Arial"/>
                <a:cs typeface="Arial"/>
              </a:rPr>
              <a:t>“The scan was clear.</a:t>
            </a:r>
          </a:p>
          <a:p xmlns:a="http://schemas.openxmlformats.org/drawingml/2006/main">
            <a:pPr>
              <a:defRPr sz="2775" b="0">
                <a:solidFill>
                  <a:srgbClr val="123D39"/>
                </a:solidFill>
                <a:latin typeface="Arial"/>
                <a:ea typeface="Arial"/>
                <a:cs typeface="Arial"/>
              </a:defRPr>
            </a:pPr>
            <a:r>
              <a:rPr sz="2775" b="0">
                <a:solidFill>
                  <a:srgbClr val="123D39"/>
                </a:solidFill>
                <a:latin typeface="Arial"/>
                <a:ea typeface="Arial"/>
                <a:cs typeface="Arial"/>
              </a:rPr>
              <a:t>The patient is ready</a:t>
            </a:r>
          </a:p>
          <a:p xmlns:a="http://schemas.openxmlformats.org/drawingml/2006/main">
            <a:pPr>
              <a:defRPr sz="2775" b="0">
                <a:solidFill>
                  <a:srgbClr val="123D39"/>
                </a:solidFill>
                <a:latin typeface="Arial"/>
                <a:ea typeface="Arial"/>
                <a:cs typeface="Arial"/>
              </a:defRPr>
            </a:pPr>
            <a:r>
              <a:rPr sz="2775" b="0">
                <a:solidFill>
                  <a:srgbClr val="123D39"/>
                </a:solidFill>
                <a:latin typeface="Arial"/>
                <a:ea typeface="Arial"/>
                <a:cs typeface="Arial"/>
              </a:rPr>
              <a:t>for discharge.”</a:t>
            </a:r>
          </a:p>
        </p:txBody>
      </p:sp>
      <p:sp>
        <p:nvSpPr>
          <p:cNvPr id="8" name="">
            <a:extLst xmlns:a="http://schemas.openxmlformats.org/drawingml/2006/main">
              <a:ext uri="{FF2B5EF4-FFF2-40B4-BE49-F238E27FC236}">
                <a16:creationId xmlns:a16="http://schemas.microsoft.com/office/drawing/2014/main" id="{7ADD9BD2-EAD2-4832-AB09-E60601C950AA}"/>
              </a:ext>
            </a:extLst>
          </p:cNvPr>
          <p:cNvSpPr>
            <a:spLocks xmlns:a="http://schemas.openxmlformats.org/drawingml/2006/main" noGrp="1"/>
          </p:cNvSpPr>
          <p:nvPr/>
        </p:nvSpPr>
        <p:spPr>
          <a:xfrm xmlns:a="http://schemas.openxmlformats.org/drawingml/2006/main">
            <a:off x="628650" y="5257800"/>
            <a:ext cx="10477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73A37"/>
                </a:solidFill>
                <a:latin typeface="Arial"/>
                <a:ea typeface="Arial"/>
                <a:cs typeface="Arial"/>
              </a:defRPr>
            </a:pPr>
            <a:r>
              <a:rPr sz="2175" b="1">
                <a:solidFill>
                  <a:srgbClr val="073A37"/>
                </a:solidFill>
                <a:latin typeface="Arial"/>
                <a:ea typeface="Arial"/>
                <a:cs typeface="Arial"/>
              </a:rPr>
              <a:t>A changed statement needs reconciliation.</a:t>
            </a:r>
          </a:p>
        </p:txBody>
      </p:sp>
      <p:sp>
        <p:nvSpPr>
          <p:cNvPr id="9" name="">
            <a:extLst xmlns:a="http://schemas.openxmlformats.org/drawingml/2006/main">
              <a:ext uri="{FF2B5EF4-FFF2-40B4-BE49-F238E27FC236}">
                <a16:creationId xmlns:a16="http://schemas.microsoft.com/office/drawing/2014/main" id="{9512C155-644E-4D42-ACC9-1103B429799E}"/>
              </a:ext>
            </a:extLst>
          </p:cNvPr>
          <p:cNvSpPr>
            <a:spLocks xmlns:a="http://schemas.openxmlformats.org/drawingml/2006/main" noGrp="1"/>
          </p:cNvSpPr>
          <p:nvPr/>
        </p:nvSpPr>
        <p:spPr>
          <a:xfrm xmlns:a="http://schemas.openxmlformats.org/drawingml/2006/main">
            <a:off x="628650" y="5962650"/>
            <a:ext cx="962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8716B"/>
                </a:solidFill>
                <a:latin typeface="Arial"/>
                <a:ea typeface="Arial"/>
                <a:cs typeface="Arial"/>
              </a:defRPr>
            </a:pPr>
            <a:r>
              <a:rPr sz="1275" b="0">
                <a:solidFill>
                  <a:srgbClr val="58716B"/>
                </a:solidFill>
                <a:latin typeface="Arial"/>
                <a:ea typeface="Arial"/>
                <a:cs typeface="Arial"/>
              </a:rPr>
              <a:t>Fictional example. Clinicians determine what is correct. CareThread asks for clarification.</a:t>
            </a:r>
          </a:p>
        </p:txBody>
      </p:sp>
    </p:spTree>
    <p:extLst>
      <p:ext uri="{BB962C8B-B14F-4D97-AF65-F5344CB8AC3E}">
        <p14:creationId xmlns:p14="http://schemas.microsoft.com/office/powerpoint/2010/main" val="1510657568"/>
      </p:ext>
    </p:extLst>
  </p:cSld>
</p:sld>
</file>

<file path=ppt/slides/slide3.xml><?xml version="1.0" encoding="utf-8"?>
<p:sld xmlns:p="http://schemas.openxmlformats.org/presentationml/2006/main">
  <p:cSld>
    <p:bg>
      <p:bgPr>
        <a:solidFill xmlns:a="http://schemas.openxmlformats.org/drawingml/2006/main">
          <a:srgbClr val="073A37"/>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A0BBC74-1EE0-4CA1-BFE9-7B0036CDC477}"/>
              </a:ext>
            </a:extLst>
          </p:cNvPr>
          <p:cNvSpPr>
            <a:spLocks xmlns:a="http://schemas.openxmlformats.org/drawingml/2006/main" noGrp="1"/>
          </p:cNvSpPr>
          <p:nvPr/>
        </p:nvSpPr>
        <p:spPr>
          <a:xfrm xmlns:a="http://schemas.openxmlformats.org/drawingml/2006/main">
            <a:off x="628650" y="3619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A9C4BA"/>
                </a:solidFill>
                <a:latin typeface="Arial"/>
                <a:ea typeface="Arial"/>
                <a:cs typeface="Arial"/>
              </a:defRPr>
            </a:pPr>
            <a:r>
              <a:rPr sz="1350" b="1">
                <a:solidFill>
                  <a:srgbClr val="A9C4BA"/>
                </a:solidFill>
                <a:latin typeface="Arial"/>
                <a:ea typeface="Arial"/>
                <a:cs typeface="Arial"/>
              </a:rPr>
              <a:t>CARETHREAD</a:t>
            </a:r>
          </a:p>
        </p:txBody>
      </p:sp>
      <p:sp>
        <p:nvSpPr>
          <p:cNvPr id="2" name="">
            <a:extLst xmlns:a="http://schemas.openxmlformats.org/drawingml/2006/main">
              <a:ext uri="{FF2B5EF4-FFF2-40B4-BE49-F238E27FC236}">
                <a16:creationId xmlns:a16="http://schemas.microsoft.com/office/drawing/2014/main" id="{E2550C62-33C7-4ECE-B89B-F6242A6F018A}"/>
              </a:ext>
            </a:extLst>
          </p:cNvPr>
          <p:cNvSpPr>
            <a:spLocks xmlns:a="http://schemas.openxmlformats.org/drawingml/2006/main" noGrp="1"/>
          </p:cNvSpPr>
          <p:nvPr/>
        </p:nvSpPr>
        <p:spPr>
          <a:xfrm xmlns:a="http://schemas.openxmlformats.org/drawingml/2006/main">
            <a:off x="628650" y="1000125"/>
            <a:ext cx="109347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FFFFFF"/>
                </a:solidFill>
                <a:latin typeface="Arial"/>
                <a:ea typeface="Arial"/>
                <a:cs typeface="Arial"/>
              </a:defRPr>
            </a:pPr>
            <a:r>
              <a:rPr sz="3900" b="1">
                <a:solidFill>
                  <a:srgbClr val="FFFFFF"/>
                </a:solidFill>
                <a:latin typeface="Arial"/>
                <a:ea typeface="Arial"/>
                <a:cs typeface="Arial"/>
              </a:rPr>
              <a:t>The pending work stays explicit</a:t>
            </a:r>
          </a:p>
        </p:txBody>
      </p:sp>
      <p:sp>
        <p:nvSpPr>
          <p:cNvPr id="3" name="">
            <a:extLst xmlns:a="http://schemas.openxmlformats.org/drawingml/2006/main">
              <a:ext uri="{FF2B5EF4-FFF2-40B4-BE49-F238E27FC236}">
                <a16:creationId xmlns:a16="http://schemas.microsoft.com/office/drawing/2014/main" id="{BA618140-1764-47BB-893D-FD697E04F551}"/>
              </a:ext>
            </a:extLst>
          </p:cNvPr>
          <p:cNvSpPr>
            <a:spLocks xmlns:a="http://schemas.openxmlformats.org/drawingml/2006/main" noGrp="1"/>
          </p:cNvSpPr>
          <p:nvPr/>
        </p:nvSpPr>
        <p:spPr>
          <a:xfrm xmlns:a="http://schemas.openxmlformats.org/drawingml/2006/main">
            <a:off x="10620375" y="6210300"/>
            <a:ext cx="1000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C4BA"/>
                </a:solidFill>
                <a:latin typeface="Arial"/>
                <a:ea typeface="Arial"/>
                <a:cs typeface="Arial"/>
              </a:defRPr>
            </a:pPr>
            <a:r>
              <a:rPr sz="1200" b="0">
                <a:solidFill>
                  <a:srgbClr val="A9C4BA"/>
                </a:solidFill>
                <a:latin typeface="Arial"/>
                <a:ea typeface="Arial"/>
                <a:cs typeface="Arial"/>
              </a:rPr>
              <a:t>03 / 08</a:t>
            </a:r>
          </a:p>
        </p:txBody>
      </p:sp>
      <p:sp>
        <p:nvSpPr>
          <p:cNvPr id="4" name="">
            <a:extLst xmlns:a="http://schemas.openxmlformats.org/drawingml/2006/main">
              <a:ext uri="{FF2B5EF4-FFF2-40B4-BE49-F238E27FC236}">
                <a16:creationId xmlns:a16="http://schemas.microsoft.com/office/drawing/2014/main" id="{3DBDF7DA-EA22-4BA2-A9D1-E7DD4EF36880}"/>
              </a:ext>
            </a:extLst>
          </p:cNvPr>
          <p:cNvSpPr>
            <a:spLocks xmlns:a="http://schemas.openxmlformats.org/drawingml/2006/main" noGrp="1"/>
          </p:cNvSpPr>
          <p:nvPr/>
        </p:nvSpPr>
        <p:spPr>
          <a:xfrm xmlns:a="http://schemas.openxmlformats.org/drawingml/2006/main">
            <a:off x="628650" y="243840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9C4BA"/>
                </a:solidFill>
                <a:latin typeface="Arial"/>
                <a:ea typeface="Arial"/>
                <a:cs typeface="Arial"/>
              </a:defRPr>
            </a:pPr>
            <a:r>
              <a:rPr sz="1800" b="0">
                <a:solidFill>
                  <a:srgbClr val="A9C4BA"/>
                </a:solidFill>
                <a:latin typeface="Arial"/>
                <a:ea typeface="Arial"/>
                <a:cs typeface="Arial"/>
              </a:rPr>
              <a:t>Task</a:t>
            </a:r>
          </a:p>
        </p:txBody>
      </p:sp>
      <p:sp>
        <p:nvSpPr>
          <p:cNvPr id="5" name="">
            <a:extLst xmlns:a="http://schemas.openxmlformats.org/drawingml/2006/main">
              <a:ext uri="{FF2B5EF4-FFF2-40B4-BE49-F238E27FC236}">
                <a16:creationId xmlns:a16="http://schemas.microsoft.com/office/drawing/2014/main" id="{6A5935C5-35B6-4702-AB40-77167C979EDF}"/>
              </a:ext>
            </a:extLst>
          </p:cNvPr>
          <p:cNvSpPr>
            <a:spLocks xmlns:a="http://schemas.openxmlformats.org/drawingml/2006/main" noGrp="1"/>
          </p:cNvSpPr>
          <p:nvPr/>
        </p:nvSpPr>
        <p:spPr>
          <a:xfrm xmlns:a="http://schemas.openxmlformats.org/drawingml/2006/main">
            <a:off x="3143250" y="2438400"/>
            <a:ext cx="838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Review the pending scan result</a:t>
            </a:r>
          </a:p>
        </p:txBody>
      </p:sp>
      <p:sp>
        <p:nvSpPr>
          <p:cNvPr id="6" name="">
            <a:extLst xmlns:a="http://schemas.openxmlformats.org/drawingml/2006/main">
              <a:ext uri="{FF2B5EF4-FFF2-40B4-BE49-F238E27FC236}">
                <a16:creationId xmlns:a16="http://schemas.microsoft.com/office/drawing/2014/main" id="{6521A1CA-9188-4642-B8C0-D13FD8D4F4D5}"/>
              </a:ext>
            </a:extLst>
          </p:cNvPr>
          <p:cNvSpPr>
            <a:spLocks xmlns:a="http://schemas.openxmlformats.org/drawingml/2006/main" noGrp="1"/>
          </p:cNvSpPr>
          <p:nvPr/>
        </p:nvSpPr>
        <p:spPr>
          <a:xfrm xmlns:a="http://schemas.openxmlformats.org/drawingml/2006/main">
            <a:off x="628650" y="3019425"/>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9C4BA"/>
                </a:solidFill>
                <a:latin typeface="Arial"/>
                <a:ea typeface="Arial"/>
                <a:cs typeface="Arial"/>
              </a:defRPr>
            </a:pPr>
            <a:r>
              <a:rPr sz="1800" b="0">
                <a:solidFill>
                  <a:srgbClr val="A9C4BA"/>
                </a:solidFill>
                <a:latin typeface="Arial"/>
                <a:ea typeface="Arial"/>
                <a:cs typeface="Arial"/>
              </a:rPr>
              <a:t>Owner</a:t>
            </a:r>
          </a:p>
        </p:txBody>
      </p:sp>
      <p:sp>
        <p:nvSpPr>
          <p:cNvPr id="7" name="">
            <a:extLst xmlns:a="http://schemas.openxmlformats.org/drawingml/2006/main">
              <a:ext uri="{FF2B5EF4-FFF2-40B4-BE49-F238E27FC236}">
                <a16:creationId xmlns:a16="http://schemas.microsoft.com/office/drawing/2014/main" id="{91380544-C746-4B04-A113-F0BD0158BCEC}"/>
              </a:ext>
            </a:extLst>
          </p:cNvPr>
          <p:cNvSpPr>
            <a:spLocks xmlns:a="http://schemas.openxmlformats.org/drawingml/2006/main" noGrp="1"/>
          </p:cNvSpPr>
          <p:nvPr/>
        </p:nvSpPr>
        <p:spPr>
          <a:xfrm xmlns:a="http://schemas.openxmlformats.org/drawingml/2006/main">
            <a:off x="3143250" y="3019425"/>
            <a:ext cx="838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Dr. Lee</a:t>
            </a:r>
          </a:p>
        </p:txBody>
      </p:sp>
      <p:sp>
        <p:nvSpPr>
          <p:cNvPr id="8" name="">
            <a:extLst xmlns:a="http://schemas.openxmlformats.org/drawingml/2006/main">
              <a:ext uri="{FF2B5EF4-FFF2-40B4-BE49-F238E27FC236}">
                <a16:creationId xmlns:a16="http://schemas.microsoft.com/office/drawing/2014/main" id="{2B6EF01D-AB96-4B59-86D4-3FB57030018D}"/>
              </a:ext>
            </a:extLst>
          </p:cNvPr>
          <p:cNvSpPr>
            <a:spLocks xmlns:a="http://schemas.openxmlformats.org/drawingml/2006/main" noGrp="1"/>
          </p:cNvSpPr>
          <p:nvPr/>
        </p:nvSpPr>
        <p:spPr>
          <a:xfrm xmlns:a="http://schemas.openxmlformats.org/drawingml/2006/main">
            <a:off x="628650" y="360045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9C4BA"/>
                </a:solidFill>
                <a:latin typeface="Arial"/>
                <a:ea typeface="Arial"/>
                <a:cs typeface="Arial"/>
              </a:defRPr>
            </a:pPr>
            <a:r>
              <a:rPr sz="1800" b="0">
                <a:solidFill>
                  <a:srgbClr val="A9C4BA"/>
                </a:solidFill>
                <a:latin typeface="Arial"/>
                <a:ea typeface="Arial"/>
                <a:cs typeface="Arial"/>
              </a:rPr>
              <a:t>Due</a:t>
            </a:r>
          </a:p>
        </p:txBody>
      </p:sp>
      <p:sp>
        <p:nvSpPr>
          <p:cNvPr id="9" name="">
            <a:extLst xmlns:a="http://schemas.openxmlformats.org/drawingml/2006/main">
              <a:ext uri="{FF2B5EF4-FFF2-40B4-BE49-F238E27FC236}">
                <a16:creationId xmlns:a16="http://schemas.microsoft.com/office/drawing/2014/main" id="{C5049BF0-1E33-4792-BF31-530068E1AB22}"/>
              </a:ext>
            </a:extLst>
          </p:cNvPr>
          <p:cNvSpPr>
            <a:spLocks xmlns:a="http://schemas.openxmlformats.org/drawingml/2006/main" noGrp="1"/>
          </p:cNvSpPr>
          <p:nvPr/>
        </p:nvSpPr>
        <p:spPr>
          <a:xfrm xmlns:a="http://schemas.openxmlformats.org/drawingml/2006/main">
            <a:off x="3143250" y="3600450"/>
            <a:ext cx="838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By 3:00 p.m.</a:t>
            </a:r>
          </a:p>
        </p:txBody>
      </p:sp>
      <p:sp>
        <p:nvSpPr>
          <p:cNvPr id="10" name="">
            <a:extLst xmlns:a="http://schemas.openxmlformats.org/drawingml/2006/main">
              <a:ext uri="{FF2B5EF4-FFF2-40B4-BE49-F238E27FC236}">
                <a16:creationId xmlns:a16="http://schemas.microsoft.com/office/drawing/2014/main" id="{0F90916A-3C95-4314-AED1-597B64B39327}"/>
              </a:ext>
            </a:extLst>
          </p:cNvPr>
          <p:cNvSpPr>
            <a:spLocks xmlns:a="http://schemas.openxmlformats.org/drawingml/2006/main" noGrp="1"/>
          </p:cNvSpPr>
          <p:nvPr/>
        </p:nvSpPr>
        <p:spPr>
          <a:xfrm xmlns:a="http://schemas.openxmlformats.org/drawingml/2006/main">
            <a:off x="628650" y="4181475"/>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9C4BA"/>
                </a:solidFill>
                <a:latin typeface="Arial"/>
                <a:ea typeface="Arial"/>
                <a:cs typeface="Arial"/>
              </a:defRPr>
            </a:pPr>
            <a:r>
              <a:rPr sz="1800" b="0">
                <a:solidFill>
                  <a:srgbClr val="A9C4BA"/>
                </a:solidFill>
                <a:latin typeface="Arial"/>
                <a:ea typeface="Arial"/>
                <a:cs typeface="Arial"/>
              </a:rPr>
              <a:t>Condition</a:t>
            </a:r>
          </a:p>
        </p:txBody>
      </p:sp>
      <p:sp>
        <p:nvSpPr>
          <p:cNvPr id="11" name="">
            <a:extLst xmlns:a="http://schemas.openxmlformats.org/drawingml/2006/main">
              <a:ext uri="{FF2B5EF4-FFF2-40B4-BE49-F238E27FC236}">
                <a16:creationId xmlns:a16="http://schemas.microsoft.com/office/drawing/2014/main" id="{82204DE1-9B5E-49D8-8AED-B1E3464AECFA}"/>
              </a:ext>
            </a:extLst>
          </p:cNvPr>
          <p:cNvSpPr>
            <a:spLocks xmlns:a="http://schemas.openxmlformats.org/drawingml/2006/main" noGrp="1"/>
          </p:cNvSpPr>
          <p:nvPr/>
        </p:nvSpPr>
        <p:spPr>
          <a:xfrm xmlns:a="http://schemas.openxmlformats.org/drawingml/2006/main">
            <a:off x="3143250" y="4181475"/>
            <a:ext cx="838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Discharge awaits the stated review</a:t>
            </a:r>
          </a:p>
        </p:txBody>
      </p:sp>
      <p:sp>
        <p:nvSpPr>
          <p:cNvPr id="12" name="">
            <a:extLst xmlns:a="http://schemas.openxmlformats.org/drawingml/2006/main">
              <a:ext uri="{FF2B5EF4-FFF2-40B4-BE49-F238E27FC236}">
                <a16:creationId xmlns:a16="http://schemas.microsoft.com/office/drawing/2014/main" id="{DF8F29DF-B4C6-489E-9A04-BD51797110E3}"/>
              </a:ext>
            </a:extLst>
          </p:cNvPr>
          <p:cNvSpPr>
            <a:spLocks xmlns:a="http://schemas.openxmlformats.org/drawingml/2006/main" noGrp="1"/>
          </p:cNvSpPr>
          <p:nvPr/>
        </p:nvSpPr>
        <p:spPr>
          <a:xfrm xmlns:a="http://schemas.openxmlformats.org/drawingml/2006/main">
            <a:off x="628650" y="476250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9C4BA"/>
                </a:solidFill>
                <a:latin typeface="Arial"/>
                <a:ea typeface="Arial"/>
                <a:cs typeface="Arial"/>
              </a:defRPr>
            </a:pPr>
            <a:r>
              <a:rPr sz="1800" b="0">
                <a:solidFill>
                  <a:srgbClr val="A9C4BA"/>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6BDAA070-465A-4017-90A6-09F6A3F566E1}"/>
              </a:ext>
            </a:extLst>
          </p:cNvPr>
          <p:cNvSpPr>
            <a:spLocks xmlns:a="http://schemas.openxmlformats.org/drawingml/2006/main" noGrp="1"/>
          </p:cNvSpPr>
          <p:nvPr/>
        </p:nvSpPr>
        <p:spPr>
          <a:xfrm xmlns:a="http://schemas.openxmlformats.org/drawingml/2006/main">
            <a:off x="3143250" y="4762500"/>
            <a:ext cx="838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D7FF78"/>
                </a:solidFill>
                <a:latin typeface="Arial"/>
                <a:ea typeface="Arial"/>
                <a:cs typeface="Arial"/>
              </a:defRPr>
            </a:pPr>
            <a:r>
              <a:rPr sz="2250" b="1">
                <a:solidFill>
                  <a:srgbClr val="D7FF78"/>
                </a:solidFill>
                <a:latin typeface="Arial"/>
                <a:ea typeface="Arial"/>
                <a:cs typeface="Arial"/>
              </a:rPr>
              <a:t>Result remains pending</a:t>
            </a:r>
          </a:p>
        </p:txBody>
      </p:sp>
      <p:sp>
        <p:nvSpPr>
          <p:cNvPr id="14" name="">
            <a:extLst xmlns:a="http://schemas.openxmlformats.org/drawingml/2006/main">
              <a:ext uri="{FF2B5EF4-FFF2-40B4-BE49-F238E27FC236}">
                <a16:creationId xmlns:a16="http://schemas.microsoft.com/office/drawing/2014/main" id="{B668C317-4763-4A67-AB88-1EF590D57C44}"/>
              </a:ext>
            </a:extLst>
          </p:cNvPr>
          <p:cNvSpPr>
            <a:spLocks xmlns:a="http://schemas.openxmlformats.org/drawingml/2006/main" noGrp="1"/>
          </p:cNvSpPr>
          <p:nvPr/>
        </p:nvSpPr>
        <p:spPr>
          <a:xfrm xmlns:a="http://schemas.openxmlformats.org/drawingml/2006/main">
            <a:off x="628650" y="5962650"/>
            <a:ext cx="962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A9C4BA"/>
                </a:solidFill>
                <a:latin typeface="Arial"/>
                <a:ea typeface="Arial"/>
                <a:cs typeface="Arial"/>
              </a:defRPr>
            </a:pPr>
            <a:r>
              <a:rPr sz="1275" b="0">
                <a:solidFill>
                  <a:srgbClr val="A9C4BA"/>
                </a:solidFill>
                <a:latin typeface="Arial"/>
                <a:ea typeface="Arial"/>
                <a:cs typeface="Arial"/>
              </a:rPr>
              <a:t>Each field keeps its source turn. Missing information remains unknown until clarified.</a:t>
            </a:r>
          </a:p>
        </p:txBody>
      </p:sp>
    </p:spTree>
    <p:extLst>
      <p:ext uri="{BB962C8B-B14F-4D97-AF65-F5344CB8AC3E}">
        <p14:creationId xmlns:p14="http://schemas.microsoft.com/office/powerpoint/2010/main" val="1652837119"/>
      </p:ext>
    </p:extLst>
  </p:cSld>
</p:sld>
</file>

<file path=ppt/slides/slide4.xml><?xml version="1.0" encoding="utf-8"?>
<p:sld xmlns:p="http://schemas.openxmlformats.org/presentationml/2006/main">
  <p:cSld>
    <p:bg>
      <p:bgPr>
        <a:solidFill xmlns:a="http://schemas.openxmlformats.org/drawingml/2006/main">
          <a:srgbClr val="F5F8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567FBE-C8D5-4E2B-A279-D9237C2A9337}"/>
              </a:ext>
            </a:extLst>
          </p:cNvPr>
          <p:cNvSpPr>
            <a:spLocks xmlns:a="http://schemas.openxmlformats.org/drawingml/2006/main" noGrp="1"/>
          </p:cNvSpPr>
          <p:nvPr/>
        </p:nvSpPr>
        <p:spPr>
          <a:xfrm xmlns:a="http://schemas.openxmlformats.org/drawingml/2006/main">
            <a:off x="628650" y="3619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8716B"/>
                </a:solidFill>
                <a:latin typeface="Arial"/>
                <a:ea typeface="Arial"/>
                <a:cs typeface="Arial"/>
              </a:defRPr>
            </a:pPr>
            <a:r>
              <a:rPr sz="1350" b="1">
                <a:solidFill>
                  <a:srgbClr val="58716B"/>
                </a:solidFill>
                <a:latin typeface="Arial"/>
                <a:ea typeface="Arial"/>
                <a:cs typeface="Arial"/>
              </a:rPr>
              <a:t>CARETHREAD</a:t>
            </a:r>
          </a:p>
        </p:txBody>
      </p:sp>
      <p:sp>
        <p:nvSpPr>
          <p:cNvPr id="2" name="">
            <a:extLst xmlns:a="http://schemas.openxmlformats.org/drawingml/2006/main">
              <a:ext uri="{FF2B5EF4-FFF2-40B4-BE49-F238E27FC236}">
                <a16:creationId xmlns:a16="http://schemas.microsoft.com/office/drawing/2014/main" id="{5FAEB7C1-2DF5-422D-9D6D-D197B3FFD155}"/>
              </a:ext>
            </a:extLst>
          </p:cNvPr>
          <p:cNvSpPr>
            <a:spLocks xmlns:a="http://schemas.openxmlformats.org/drawingml/2006/main" noGrp="1"/>
          </p:cNvSpPr>
          <p:nvPr/>
        </p:nvSpPr>
        <p:spPr>
          <a:xfrm xmlns:a="http://schemas.openxmlformats.org/drawingml/2006/main">
            <a:off x="628650" y="1000125"/>
            <a:ext cx="109347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23D39"/>
                </a:solidFill>
                <a:latin typeface="Arial"/>
                <a:ea typeface="Arial"/>
                <a:cs typeface="Arial"/>
              </a:defRPr>
            </a:pPr>
            <a:r>
              <a:rPr sz="3900" b="1">
                <a:solidFill>
                  <a:srgbClr val="123D39"/>
                </a:solidFill>
                <a:latin typeface="Arial"/>
                <a:ea typeface="Arial"/>
                <a:cs typeface="Arial"/>
              </a:rPr>
              <a:t>Acceptance and completion are separate</a:t>
            </a:r>
          </a:p>
        </p:txBody>
      </p:sp>
      <p:sp>
        <p:nvSpPr>
          <p:cNvPr id="3" name="">
            <a:extLst xmlns:a="http://schemas.openxmlformats.org/drawingml/2006/main">
              <a:ext uri="{FF2B5EF4-FFF2-40B4-BE49-F238E27FC236}">
                <a16:creationId xmlns:a16="http://schemas.microsoft.com/office/drawing/2014/main" id="{8EE23EE5-FB39-472B-B2A1-DE11FF41C516}"/>
              </a:ext>
            </a:extLst>
          </p:cNvPr>
          <p:cNvSpPr>
            <a:spLocks xmlns:a="http://schemas.openxmlformats.org/drawingml/2006/main" noGrp="1"/>
          </p:cNvSpPr>
          <p:nvPr/>
        </p:nvSpPr>
        <p:spPr>
          <a:xfrm xmlns:a="http://schemas.openxmlformats.org/drawingml/2006/main">
            <a:off x="10620375" y="6210300"/>
            <a:ext cx="1000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B"/>
                </a:solidFill>
                <a:latin typeface="Arial"/>
                <a:ea typeface="Arial"/>
                <a:cs typeface="Arial"/>
              </a:defRPr>
            </a:pPr>
            <a:r>
              <a:rPr sz="1200" b="0">
                <a:solidFill>
                  <a:srgbClr val="58716B"/>
                </a:solidFill>
                <a:latin typeface="Arial"/>
                <a:ea typeface="Arial"/>
                <a:cs typeface="Arial"/>
              </a:rPr>
              <a:t>04 / 08</a:t>
            </a:r>
          </a:p>
        </p:txBody>
      </p:sp>
      <p:sp>
        <p:nvSpPr>
          <p:cNvPr id="4" name="">
            <a:extLst xmlns:a="http://schemas.openxmlformats.org/drawingml/2006/main">
              <a:ext uri="{FF2B5EF4-FFF2-40B4-BE49-F238E27FC236}">
                <a16:creationId xmlns:a16="http://schemas.microsoft.com/office/drawing/2014/main" id="{1909AE17-AF05-46F0-8AE7-4C0671AD43F2}"/>
              </a:ext>
            </a:extLst>
          </p:cNvPr>
          <p:cNvSpPr>
            <a:spLocks xmlns:a="http://schemas.openxmlformats.org/drawingml/2006/main" noGrp="1"/>
          </p:cNvSpPr>
          <p:nvPr/>
        </p:nvSpPr>
        <p:spPr>
          <a:xfrm xmlns:a="http://schemas.openxmlformats.org/drawingml/2006/main">
            <a:off x="628650" y="2524125"/>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58716B"/>
                </a:solidFill>
                <a:latin typeface="Arial"/>
                <a:ea typeface="Arial"/>
                <a:cs typeface="Arial"/>
              </a:defRPr>
            </a:pPr>
            <a:r>
              <a:rPr sz="1500" b="1">
                <a:solidFill>
                  <a:srgbClr val="58716B"/>
                </a:solidFill>
                <a:latin typeface="Arial"/>
                <a:ea typeface="Arial"/>
                <a:cs typeface="Arial"/>
              </a:rPr>
              <a:t>HANDOFF</a:t>
            </a:r>
          </a:p>
        </p:txBody>
      </p:sp>
      <p:sp>
        <p:nvSpPr>
          <p:cNvPr id="5" name="">
            <a:extLst xmlns:a="http://schemas.openxmlformats.org/drawingml/2006/main">
              <a:ext uri="{FF2B5EF4-FFF2-40B4-BE49-F238E27FC236}">
                <a16:creationId xmlns:a16="http://schemas.microsoft.com/office/drawing/2014/main" id="{5F393474-22DA-49B8-A897-E4E98B8E1E27}"/>
              </a:ext>
            </a:extLst>
          </p:cNvPr>
          <p:cNvSpPr>
            <a:spLocks xmlns:a="http://schemas.openxmlformats.org/drawingml/2006/main" noGrp="1"/>
          </p:cNvSpPr>
          <p:nvPr/>
        </p:nvSpPr>
        <p:spPr>
          <a:xfrm xmlns:a="http://schemas.openxmlformats.org/drawingml/2006/main">
            <a:off x="571500" y="3095625"/>
            <a:ext cx="5334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1">
                <a:solidFill>
                  <a:srgbClr val="073A37"/>
                </a:solidFill>
                <a:latin typeface="Arial"/>
                <a:ea typeface="Arial"/>
                <a:cs typeface="Arial"/>
              </a:defRPr>
            </a:pPr>
            <a:r>
              <a:rPr sz="4800" b="1">
                <a:solidFill>
                  <a:srgbClr val="073A37"/>
                </a:solidFill>
                <a:latin typeface="Arial"/>
                <a:ea typeface="Arial"/>
                <a:cs typeface="Arial"/>
              </a:rPr>
              <a:t>Accepted</a:t>
            </a:r>
          </a:p>
        </p:txBody>
      </p:sp>
      <p:sp>
        <p:nvSpPr>
          <p:cNvPr id="6" name="">
            <a:extLst xmlns:a="http://schemas.openxmlformats.org/drawingml/2006/main">
              <a:ext uri="{FF2B5EF4-FFF2-40B4-BE49-F238E27FC236}">
                <a16:creationId xmlns:a16="http://schemas.microsoft.com/office/drawing/2014/main" id="{BC722188-3C5E-405B-B976-4065BD142A53}"/>
              </a:ext>
            </a:extLst>
          </p:cNvPr>
          <p:cNvSpPr>
            <a:spLocks xmlns:a="http://schemas.openxmlformats.org/drawingml/2006/main" noGrp="1"/>
          </p:cNvSpPr>
          <p:nvPr/>
        </p:nvSpPr>
        <p:spPr>
          <a:xfrm xmlns:a="http://schemas.openxmlformats.org/drawingml/2006/main">
            <a:off x="628650" y="4276725"/>
            <a:ext cx="4857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23D39"/>
                </a:solidFill>
                <a:latin typeface="Arial"/>
                <a:ea typeface="Arial"/>
                <a:cs typeface="Arial"/>
              </a:defRPr>
            </a:pPr>
            <a:r>
              <a:rPr sz="2250" b="0">
                <a:solidFill>
                  <a:srgbClr val="123D39"/>
                </a:solidFill>
                <a:latin typeface="Arial"/>
                <a:ea typeface="Arial"/>
                <a:cs typeface="Arial"/>
              </a:rPr>
              <a:t>The receiver accepts</a:t>
            </a:r>
          </a:p>
          <a:p xmlns:a="http://schemas.openxmlformats.org/drawingml/2006/main">
            <a:pPr>
              <a:defRPr sz="2250" b="0">
                <a:solidFill>
                  <a:srgbClr val="123D39"/>
                </a:solidFill>
                <a:latin typeface="Arial"/>
                <a:ea typeface="Arial"/>
                <a:cs typeface="Arial"/>
              </a:defRPr>
            </a:pPr>
            <a:r>
              <a:rPr sz="2250" b="0">
                <a:solidFill>
                  <a:srgbClr val="123D39"/>
                </a:solidFill>
                <a:latin typeface="Arial"/>
                <a:ea typeface="Arial"/>
                <a:cs typeface="Arial"/>
              </a:rPr>
              <a:t>the current revision.</a:t>
            </a:r>
          </a:p>
        </p:txBody>
      </p:sp>
      <p:sp>
        <p:nvSpPr>
          <p:cNvPr id="7" name="">
            <a:extLst xmlns:a="http://schemas.openxmlformats.org/drawingml/2006/main">
              <a:ext uri="{FF2B5EF4-FFF2-40B4-BE49-F238E27FC236}">
                <a16:creationId xmlns:a16="http://schemas.microsoft.com/office/drawing/2014/main" id="{E72C2A86-9E36-4B48-969E-B38C65914AFB}"/>
              </a:ext>
            </a:extLst>
          </p:cNvPr>
          <p:cNvSpPr>
            <a:spLocks xmlns:a="http://schemas.openxmlformats.org/drawingml/2006/main" noGrp="1"/>
          </p:cNvSpPr>
          <p:nvPr/>
        </p:nvSpPr>
        <p:spPr>
          <a:xfrm xmlns:a="http://schemas.openxmlformats.org/drawingml/2006/main">
            <a:off x="6419850" y="2524125"/>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58716B"/>
                </a:solidFill>
                <a:latin typeface="Arial"/>
                <a:ea typeface="Arial"/>
                <a:cs typeface="Arial"/>
              </a:defRPr>
            </a:pPr>
            <a:r>
              <a:rPr sz="1500" b="1">
                <a:solidFill>
                  <a:srgbClr val="58716B"/>
                </a:solidFill>
                <a:latin typeface="Arial"/>
                <a:ea typeface="Arial"/>
                <a:cs typeface="Arial"/>
              </a:rPr>
              <a:t>CLINICAL TASK</a:t>
            </a:r>
          </a:p>
        </p:txBody>
      </p:sp>
      <p:sp>
        <p:nvSpPr>
          <p:cNvPr id="8" name="">
            <a:extLst xmlns:a="http://schemas.openxmlformats.org/drawingml/2006/main">
              <a:ext uri="{FF2B5EF4-FFF2-40B4-BE49-F238E27FC236}">
                <a16:creationId xmlns:a16="http://schemas.microsoft.com/office/drawing/2014/main" id="{1B497922-F600-4214-88B9-556CC8310736}"/>
              </a:ext>
            </a:extLst>
          </p:cNvPr>
          <p:cNvSpPr>
            <a:spLocks xmlns:a="http://schemas.openxmlformats.org/drawingml/2006/main" noGrp="1"/>
          </p:cNvSpPr>
          <p:nvPr/>
        </p:nvSpPr>
        <p:spPr>
          <a:xfrm xmlns:a="http://schemas.openxmlformats.org/drawingml/2006/main">
            <a:off x="6362700" y="3095625"/>
            <a:ext cx="5219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073A37"/>
                </a:solidFill>
                <a:latin typeface="Arial"/>
                <a:ea typeface="Arial"/>
                <a:cs typeface="Arial"/>
              </a:defRPr>
            </a:pPr>
            <a:r>
              <a:rPr sz="4650" b="1">
                <a:solidFill>
                  <a:srgbClr val="073A37"/>
                </a:solidFill>
                <a:latin typeface="Arial"/>
                <a:ea typeface="Arial"/>
                <a:cs typeface="Arial"/>
              </a:rPr>
              <a:t>Still pending</a:t>
            </a:r>
          </a:p>
        </p:txBody>
      </p:sp>
      <p:sp>
        <p:nvSpPr>
          <p:cNvPr id="9" name="">
            <a:extLst xmlns:a="http://schemas.openxmlformats.org/drawingml/2006/main">
              <a:ext uri="{FF2B5EF4-FFF2-40B4-BE49-F238E27FC236}">
                <a16:creationId xmlns:a16="http://schemas.microsoft.com/office/drawing/2014/main" id="{04E48999-DF32-4714-9D4E-8740A74F5DDF}"/>
              </a:ext>
            </a:extLst>
          </p:cNvPr>
          <p:cNvSpPr>
            <a:spLocks xmlns:a="http://schemas.openxmlformats.org/drawingml/2006/main" noGrp="1"/>
          </p:cNvSpPr>
          <p:nvPr/>
        </p:nvSpPr>
        <p:spPr>
          <a:xfrm xmlns:a="http://schemas.openxmlformats.org/drawingml/2006/main">
            <a:off x="6419850" y="4276725"/>
            <a:ext cx="51435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23D39"/>
                </a:solidFill>
                <a:latin typeface="Arial"/>
                <a:ea typeface="Arial"/>
                <a:cs typeface="Arial"/>
              </a:defRPr>
            </a:pPr>
            <a:r>
              <a:rPr sz="2250" b="0">
                <a:solidFill>
                  <a:srgbClr val="123D39"/>
                </a:solidFill>
                <a:latin typeface="Arial"/>
                <a:ea typeface="Arial"/>
                <a:cs typeface="Arial"/>
              </a:rPr>
              <a:t>Completion requires</a:t>
            </a:r>
          </a:p>
          <a:p xmlns:a="http://schemas.openxmlformats.org/drawingml/2006/main">
            <a:pPr>
              <a:defRPr sz="2250" b="0">
                <a:solidFill>
                  <a:srgbClr val="123D39"/>
                </a:solidFill>
                <a:latin typeface="Arial"/>
                <a:ea typeface="Arial"/>
                <a:cs typeface="Arial"/>
              </a:defRPr>
            </a:pPr>
            <a:r>
              <a:rPr sz="2250" b="0">
                <a:solidFill>
                  <a:srgbClr val="123D39"/>
                </a:solidFill>
                <a:latin typeface="Arial"/>
                <a:ea typeface="Arial"/>
                <a:cs typeface="Arial"/>
              </a:rPr>
              <a:t>a separate clinician report.</a:t>
            </a:r>
          </a:p>
        </p:txBody>
      </p:sp>
      <p:sp>
        <p:nvSpPr>
          <p:cNvPr id="10" name="">
            <a:extLst xmlns:a="http://schemas.openxmlformats.org/drawingml/2006/main">
              <a:ext uri="{FF2B5EF4-FFF2-40B4-BE49-F238E27FC236}">
                <a16:creationId xmlns:a16="http://schemas.microsoft.com/office/drawing/2014/main" id="{17EB7FB7-D4FE-4504-A1B3-CFD0711F16C8}"/>
              </a:ext>
            </a:extLst>
          </p:cNvPr>
          <p:cNvSpPr>
            <a:spLocks xmlns:a="http://schemas.openxmlformats.org/drawingml/2006/main" noGrp="1"/>
          </p:cNvSpPr>
          <p:nvPr/>
        </p:nvSpPr>
        <p:spPr>
          <a:xfrm xmlns:a="http://schemas.openxmlformats.org/drawingml/2006/main">
            <a:off x="628650" y="5962650"/>
            <a:ext cx="962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8716B"/>
                </a:solidFill>
                <a:latin typeface="Arial"/>
                <a:ea typeface="Arial"/>
                <a:cs typeface="Arial"/>
              </a:defRPr>
            </a:pPr>
            <a:r>
              <a:rPr sz="1275" b="0">
                <a:solidFill>
                  <a:srgbClr val="58716B"/>
                </a:solidFill>
                <a:latin typeface="Arial"/>
                <a:ea typeface="Arial"/>
                <a:cs typeface="Arial"/>
              </a:rPr>
              <a:t>A substantive correction invalidates the earlier acceptance and requires review again.</a:t>
            </a:r>
          </a:p>
        </p:txBody>
      </p:sp>
    </p:spTree>
    <p:extLst>
      <p:ext uri="{BB962C8B-B14F-4D97-AF65-F5344CB8AC3E}">
        <p14:creationId xmlns:p14="http://schemas.microsoft.com/office/powerpoint/2010/main" val="1558622408"/>
      </p:ext>
    </p:extLst>
  </p:cSld>
</p:sld>
</file>

<file path=ppt/slides/slide5.xml><?xml version="1.0" encoding="utf-8"?>
<p:sld xmlns:p="http://schemas.openxmlformats.org/presentationml/2006/main">
  <p:cSld>
    <p:bg>
      <p:bgPr>
        <a:solidFill xmlns:a="http://schemas.openxmlformats.org/drawingml/2006/main">
          <a:srgbClr val="073A3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8E7AF78-FEE1-4A82-AA74-43663CAD2189}"/>
              </a:ext>
            </a:extLst>
          </p:cNvPr>
          <p:cNvSpPr>
            <a:spLocks xmlns:a="http://schemas.openxmlformats.org/drawingml/2006/main" noGrp="1"/>
          </p:cNvSpPr>
          <p:nvPr/>
        </p:nvSpPr>
        <p:spPr>
          <a:xfrm xmlns:a="http://schemas.openxmlformats.org/drawingml/2006/main">
            <a:off x="628650" y="3619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A9C4BA"/>
                </a:solidFill>
                <a:latin typeface="Arial"/>
                <a:ea typeface="Arial"/>
                <a:cs typeface="Arial"/>
              </a:defRPr>
            </a:pPr>
            <a:r>
              <a:rPr sz="1350" b="1">
                <a:solidFill>
                  <a:srgbClr val="A9C4BA"/>
                </a:solidFill>
                <a:latin typeface="Arial"/>
                <a:ea typeface="Arial"/>
                <a:cs typeface="Arial"/>
              </a:rPr>
              <a:t>CARETHREAD</a:t>
            </a:r>
          </a:p>
        </p:txBody>
      </p:sp>
      <p:sp>
        <p:nvSpPr>
          <p:cNvPr id="2" name="">
            <a:extLst xmlns:a="http://schemas.openxmlformats.org/drawingml/2006/main">
              <a:ext uri="{FF2B5EF4-FFF2-40B4-BE49-F238E27FC236}">
                <a16:creationId xmlns:a16="http://schemas.microsoft.com/office/drawing/2014/main" id="{4DAEDA89-5E2E-4B0F-A56A-E40760E47CBA}"/>
              </a:ext>
            </a:extLst>
          </p:cNvPr>
          <p:cNvSpPr>
            <a:spLocks xmlns:a="http://schemas.openxmlformats.org/drawingml/2006/main" noGrp="1"/>
          </p:cNvSpPr>
          <p:nvPr/>
        </p:nvSpPr>
        <p:spPr>
          <a:xfrm xmlns:a="http://schemas.openxmlformats.org/drawingml/2006/main">
            <a:off x="628650" y="1000125"/>
            <a:ext cx="109347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FFFFFF"/>
                </a:solidFill>
                <a:latin typeface="Arial"/>
                <a:ea typeface="Arial"/>
                <a:cs typeface="Arial"/>
              </a:defRPr>
            </a:pPr>
            <a:r>
              <a:rPr sz="3900" b="1">
                <a:solidFill>
                  <a:srgbClr val="FFFFFF"/>
                </a:solidFill>
                <a:latin typeface="Arial"/>
                <a:ea typeface="Arial"/>
                <a:cs typeface="Arial"/>
              </a:rPr>
              <a:t>AssemblyAI handles the conversation</a:t>
            </a:r>
          </a:p>
        </p:txBody>
      </p:sp>
      <p:sp>
        <p:nvSpPr>
          <p:cNvPr id="3" name="">
            <a:extLst xmlns:a="http://schemas.openxmlformats.org/drawingml/2006/main">
              <a:ext uri="{FF2B5EF4-FFF2-40B4-BE49-F238E27FC236}">
                <a16:creationId xmlns:a16="http://schemas.microsoft.com/office/drawing/2014/main" id="{CD0B2853-A3EA-4731-B64B-F3024F0029D2}"/>
              </a:ext>
            </a:extLst>
          </p:cNvPr>
          <p:cNvSpPr>
            <a:spLocks xmlns:a="http://schemas.openxmlformats.org/drawingml/2006/main" noGrp="1"/>
          </p:cNvSpPr>
          <p:nvPr/>
        </p:nvSpPr>
        <p:spPr>
          <a:xfrm xmlns:a="http://schemas.openxmlformats.org/drawingml/2006/main">
            <a:off x="10620375" y="6210300"/>
            <a:ext cx="1000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C4BA"/>
                </a:solidFill>
                <a:latin typeface="Arial"/>
                <a:ea typeface="Arial"/>
                <a:cs typeface="Arial"/>
              </a:defRPr>
            </a:pPr>
            <a:r>
              <a:rPr sz="1200" b="0">
                <a:solidFill>
                  <a:srgbClr val="A9C4BA"/>
                </a:solidFill>
                <a:latin typeface="Arial"/>
                <a:ea typeface="Arial"/>
                <a:cs typeface="Arial"/>
              </a:rPr>
              <a:t>05 / 08</a:t>
            </a:r>
          </a:p>
        </p:txBody>
      </p:sp>
      <p:sp>
        <p:nvSpPr>
          <p:cNvPr id="4" name="">
            <a:extLst xmlns:a="http://schemas.openxmlformats.org/drawingml/2006/main">
              <a:ext uri="{FF2B5EF4-FFF2-40B4-BE49-F238E27FC236}">
                <a16:creationId xmlns:a16="http://schemas.microsoft.com/office/drawing/2014/main" id="{BA91B262-0B16-4EA9-9F00-0B76EB8A67DD}"/>
              </a:ext>
            </a:extLst>
          </p:cNvPr>
          <p:cNvSpPr>
            <a:spLocks xmlns:a="http://schemas.openxmlformats.org/drawingml/2006/main" noGrp="1"/>
          </p:cNvSpPr>
          <p:nvPr/>
        </p:nvSpPr>
        <p:spPr>
          <a:xfrm xmlns:a="http://schemas.openxmlformats.org/drawingml/2006/main">
            <a:off x="628650" y="2505075"/>
            <a:ext cx="276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D7FF78"/>
                </a:solidFill>
                <a:latin typeface="Arial"/>
                <a:ea typeface="Arial"/>
                <a:cs typeface="Arial"/>
              </a:defRPr>
            </a:pPr>
            <a:r>
              <a:rPr sz="3750" b="1">
                <a:solidFill>
                  <a:srgbClr val="D7FF78"/>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99F46F5A-4DF8-44E9-8526-D454A571DE97}"/>
              </a:ext>
            </a:extLst>
          </p:cNvPr>
          <p:cNvSpPr>
            <a:spLocks xmlns:a="http://schemas.openxmlformats.org/drawingml/2006/main" noGrp="1"/>
          </p:cNvSpPr>
          <p:nvPr/>
        </p:nvSpPr>
        <p:spPr>
          <a:xfrm xmlns:a="http://schemas.openxmlformats.org/drawingml/2006/main">
            <a:off x="628650" y="3352800"/>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Browser</a:t>
            </a:r>
          </a:p>
        </p:txBody>
      </p:sp>
      <p:sp>
        <p:nvSpPr>
          <p:cNvPr id="6" name="">
            <a:extLst xmlns:a="http://schemas.openxmlformats.org/drawingml/2006/main">
              <a:ext uri="{FF2B5EF4-FFF2-40B4-BE49-F238E27FC236}">
                <a16:creationId xmlns:a16="http://schemas.microsoft.com/office/drawing/2014/main" id="{FC6989AC-AE84-462D-A1F3-0316C863111D}"/>
              </a:ext>
            </a:extLst>
          </p:cNvPr>
          <p:cNvSpPr>
            <a:spLocks xmlns:a="http://schemas.openxmlformats.org/drawingml/2006/main" noGrp="1"/>
          </p:cNvSpPr>
          <p:nvPr/>
        </p:nvSpPr>
        <p:spPr>
          <a:xfrm xmlns:a="http://schemas.openxmlformats.org/drawingml/2006/main">
            <a:off x="628650" y="4114800"/>
            <a:ext cx="3295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Selected sender or receiver</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Microphone and transcript</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Visible source evidence</a:t>
            </a:r>
          </a:p>
        </p:txBody>
      </p:sp>
      <p:sp>
        <p:nvSpPr>
          <p:cNvPr id="7" name="">
            <a:extLst xmlns:a="http://schemas.openxmlformats.org/drawingml/2006/main">
              <a:ext uri="{FF2B5EF4-FFF2-40B4-BE49-F238E27FC236}">
                <a16:creationId xmlns:a16="http://schemas.microsoft.com/office/drawing/2014/main" id="{0DAF7DF4-096C-4251-910C-C3E2703BE7DE}"/>
              </a:ext>
            </a:extLst>
          </p:cNvPr>
          <p:cNvSpPr>
            <a:spLocks xmlns:a="http://schemas.openxmlformats.org/drawingml/2006/main" noGrp="1"/>
          </p:cNvSpPr>
          <p:nvPr/>
        </p:nvSpPr>
        <p:spPr>
          <a:xfrm xmlns:a="http://schemas.openxmlformats.org/drawingml/2006/main">
            <a:off x="4419600" y="2505075"/>
            <a:ext cx="276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D7FF78"/>
                </a:solidFill>
                <a:latin typeface="Arial"/>
                <a:ea typeface="Arial"/>
                <a:cs typeface="Arial"/>
              </a:defRPr>
            </a:pPr>
            <a:r>
              <a:rPr sz="3750" b="1">
                <a:solidFill>
                  <a:srgbClr val="D7FF78"/>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9F787B43-1C2D-4F13-B137-50B2458A3E1C}"/>
              </a:ext>
            </a:extLst>
          </p:cNvPr>
          <p:cNvSpPr>
            <a:spLocks xmlns:a="http://schemas.openxmlformats.org/drawingml/2006/main" noGrp="1"/>
          </p:cNvSpPr>
          <p:nvPr/>
        </p:nvSpPr>
        <p:spPr>
          <a:xfrm xmlns:a="http://schemas.openxmlformats.org/drawingml/2006/main">
            <a:off x="4419600" y="3352800"/>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Voice Agent API</a:t>
            </a:r>
          </a:p>
        </p:txBody>
      </p:sp>
      <p:sp>
        <p:nvSpPr>
          <p:cNvPr id="9" name="">
            <a:extLst xmlns:a="http://schemas.openxmlformats.org/drawingml/2006/main">
              <a:ext uri="{FF2B5EF4-FFF2-40B4-BE49-F238E27FC236}">
                <a16:creationId xmlns:a16="http://schemas.microsoft.com/office/drawing/2014/main" id="{ED63D52A-EFCA-4745-A230-574844710C43}"/>
              </a:ext>
            </a:extLst>
          </p:cNvPr>
          <p:cNvSpPr>
            <a:spLocks xmlns:a="http://schemas.openxmlformats.org/drawingml/2006/main" noGrp="1"/>
          </p:cNvSpPr>
          <p:nvPr/>
        </p:nvSpPr>
        <p:spPr>
          <a:xfrm xmlns:a="http://schemas.openxmlformats.org/drawingml/2006/main">
            <a:off x="4419600" y="4114800"/>
            <a:ext cx="3295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Streaming speech input</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Conversational response</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Structured function tools</a:t>
            </a:r>
          </a:p>
        </p:txBody>
      </p:sp>
      <p:sp>
        <p:nvSpPr>
          <p:cNvPr id="10" name="">
            <a:extLst xmlns:a="http://schemas.openxmlformats.org/drawingml/2006/main">
              <a:ext uri="{FF2B5EF4-FFF2-40B4-BE49-F238E27FC236}">
                <a16:creationId xmlns:a16="http://schemas.microsoft.com/office/drawing/2014/main" id="{ED519D47-5C34-4B43-8225-1DFEC9A2A32E}"/>
              </a:ext>
            </a:extLst>
          </p:cNvPr>
          <p:cNvSpPr>
            <a:spLocks xmlns:a="http://schemas.openxmlformats.org/drawingml/2006/main" noGrp="1"/>
          </p:cNvSpPr>
          <p:nvPr/>
        </p:nvSpPr>
        <p:spPr>
          <a:xfrm xmlns:a="http://schemas.openxmlformats.org/drawingml/2006/main">
            <a:off x="8210550" y="2505075"/>
            <a:ext cx="2762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D7FF78"/>
                </a:solidFill>
                <a:latin typeface="Arial"/>
                <a:ea typeface="Arial"/>
                <a:cs typeface="Arial"/>
              </a:defRPr>
            </a:pPr>
            <a:r>
              <a:rPr sz="3750" b="1">
                <a:solidFill>
                  <a:srgbClr val="D7FF78"/>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3B7A4F7A-EA02-4BDC-98DD-4FF4BA48A533}"/>
              </a:ext>
            </a:extLst>
          </p:cNvPr>
          <p:cNvSpPr>
            <a:spLocks xmlns:a="http://schemas.openxmlformats.org/drawingml/2006/main" noGrp="1"/>
          </p:cNvSpPr>
          <p:nvPr/>
        </p:nvSpPr>
        <p:spPr>
          <a:xfrm xmlns:a="http://schemas.openxmlformats.org/drawingml/2006/main">
            <a:off x="8210550" y="3352800"/>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Validated state</a:t>
            </a:r>
          </a:p>
        </p:txBody>
      </p:sp>
      <p:sp>
        <p:nvSpPr>
          <p:cNvPr id="12" name="">
            <a:extLst xmlns:a="http://schemas.openxmlformats.org/drawingml/2006/main">
              <a:ext uri="{FF2B5EF4-FFF2-40B4-BE49-F238E27FC236}">
                <a16:creationId xmlns:a16="http://schemas.microsoft.com/office/drawing/2014/main" id="{1056BB89-6006-412B-A721-7103F700C302}"/>
              </a:ext>
            </a:extLst>
          </p:cNvPr>
          <p:cNvSpPr>
            <a:spLocks xmlns:a="http://schemas.openxmlformats.org/drawingml/2006/main" noGrp="1"/>
          </p:cNvSpPr>
          <p:nvPr/>
        </p:nvSpPr>
        <p:spPr>
          <a:xfrm xmlns:a="http://schemas.openxmlformats.org/drawingml/2006/main">
            <a:off x="8210550" y="4114800"/>
            <a:ext cx="3295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Required fields and revisions</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Separate acceptance state</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Open-task record and export</a:t>
            </a:r>
          </a:p>
        </p:txBody>
      </p:sp>
      <p:sp>
        <p:nvSpPr>
          <p:cNvPr id="13" name="">
            <a:extLst xmlns:a="http://schemas.openxmlformats.org/drawingml/2006/main">
              <a:ext uri="{FF2B5EF4-FFF2-40B4-BE49-F238E27FC236}">
                <a16:creationId xmlns:a16="http://schemas.microsoft.com/office/drawing/2014/main" id="{27A8EEFF-5C35-4FEF-A8DC-F8689249FF2F}"/>
              </a:ext>
            </a:extLst>
          </p:cNvPr>
          <p:cNvSpPr>
            <a:spLocks xmlns:a="http://schemas.openxmlformats.org/drawingml/2006/main" noGrp="1"/>
          </p:cNvSpPr>
          <p:nvPr/>
        </p:nvSpPr>
        <p:spPr>
          <a:xfrm xmlns:a="http://schemas.openxmlformats.org/drawingml/2006/main">
            <a:off x="628650" y="5962650"/>
            <a:ext cx="962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A9C4BA"/>
                </a:solidFill>
                <a:latin typeface="Arial"/>
                <a:ea typeface="Arial"/>
                <a:cs typeface="Arial"/>
              </a:defRPr>
            </a:pPr>
            <a:r>
              <a:rPr sz="1275" b="0">
                <a:solidFill>
                  <a:srgbClr val="A9C4BA"/>
                </a:solidFill>
                <a:latin typeface="Arial"/>
                <a:ea typeface="Arial"/>
                <a:cs typeface="Arial"/>
              </a:rPr>
              <a:t>Server issues temporary tokens. Audio goes to AssemblyAI. Synthetic records stay in this browser.</a:t>
            </a:r>
          </a:p>
        </p:txBody>
      </p:sp>
    </p:spTree>
    <p:extLst>
      <p:ext uri="{BB962C8B-B14F-4D97-AF65-F5344CB8AC3E}">
        <p14:creationId xmlns:p14="http://schemas.microsoft.com/office/powerpoint/2010/main" val="372713040"/>
      </p:ext>
    </p:extLst>
  </p:cSld>
</p:sld>
</file>

<file path=ppt/slides/slide6.xml><?xml version="1.0" encoding="utf-8"?>
<p:sld xmlns:p="http://schemas.openxmlformats.org/presentationml/2006/main">
  <p:cSld>
    <p:bg>
      <p:bgPr>
        <a:solidFill xmlns:a="http://schemas.openxmlformats.org/drawingml/2006/main">
          <a:srgbClr val="F5F8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8F2814D-FFAB-4DBA-A19B-22BBA42CA73C}"/>
              </a:ext>
            </a:extLst>
          </p:cNvPr>
          <p:cNvSpPr>
            <a:spLocks xmlns:a="http://schemas.openxmlformats.org/drawingml/2006/main" noGrp="1"/>
          </p:cNvSpPr>
          <p:nvPr/>
        </p:nvSpPr>
        <p:spPr>
          <a:xfrm xmlns:a="http://schemas.openxmlformats.org/drawingml/2006/main">
            <a:off x="628650" y="3619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8716B"/>
                </a:solidFill>
                <a:latin typeface="Arial"/>
                <a:ea typeface="Arial"/>
                <a:cs typeface="Arial"/>
              </a:defRPr>
            </a:pPr>
            <a:r>
              <a:rPr sz="1350" b="1">
                <a:solidFill>
                  <a:srgbClr val="58716B"/>
                </a:solidFill>
                <a:latin typeface="Arial"/>
                <a:ea typeface="Arial"/>
                <a:cs typeface="Arial"/>
              </a:rPr>
              <a:t>CARETHREAD</a:t>
            </a:r>
          </a:p>
        </p:txBody>
      </p:sp>
      <p:sp>
        <p:nvSpPr>
          <p:cNvPr id="2" name="">
            <a:extLst xmlns:a="http://schemas.openxmlformats.org/drawingml/2006/main">
              <a:ext uri="{FF2B5EF4-FFF2-40B4-BE49-F238E27FC236}">
                <a16:creationId xmlns:a16="http://schemas.microsoft.com/office/drawing/2014/main" id="{3874C590-02D9-4447-8288-D3FD5957F3F0}"/>
              </a:ext>
            </a:extLst>
          </p:cNvPr>
          <p:cNvSpPr>
            <a:spLocks xmlns:a="http://schemas.openxmlformats.org/drawingml/2006/main" noGrp="1"/>
          </p:cNvSpPr>
          <p:nvPr/>
        </p:nvSpPr>
        <p:spPr>
          <a:xfrm xmlns:a="http://schemas.openxmlformats.org/drawingml/2006/main">
            <a:off x="628650" y="1000125"/>
            <a:ext cx="109347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23D39"/>
                </a:solidFill>
                <a:latin typeface="Arial"/>
                <a:ea typeface="Arial"/>
                <a:cs typeface="Arial"/>
              </a:defRPr>
            </a:pPr>
            <a:r>
              <a:rPr sz="3900" b="1">
                <a:solidFill>
                  <a:srgbClr val="123D39"/>
                </a:solidFill>
                <a:latin typeface="Arial"/>
                <a:ea typeface="Arial"/>
                <a:cs typeface="Arial"/>
              </a:rPr>
              <a:t>Simulation is the first setting</a:t>
            </a:r>
          </a:p>
        </p:txBody>
      </p:sp>
      <p:sp>
        <p:nvSpPr>
          <p:cNvPr id="3" name="">
            <a:extLst xmlns:a="http://schemas.openxmlformats.org/drawingml/2006/main">
              <a:ext uri="{FF2B5EF4-FFF2-40B4-BE49-F238E27FC236}">
                <a16:creationId xmlns:a16="http://schemas.microsoft.com/office/drawing/2014/main" id="{F1F06AAB-EFBB-4DC4-B0A1-7637C95D2532}"/>
              </a:ext>
            </a:extLst>
          </p:cNvPr>
          <p:cNvSpPr>
            <a:spLocks xmlns:a="http://schemas.openxmlformats.org/drawingml/2006/main" noGrp="1"/>
          </p:cNvSpPr>
          <p:nvPr/>
        </p:nvSpPr>
        <p:spPr>
          <a:xfrm xmlns:a="http://schemas.openxmlformats.org/drawingml/2006/main">
            <a:off x="10620375" y="6210300"/>
            <a:ext cx="1000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B"/>
                </a:solidFill>
                <a:latin typeface="Arial"/>
                <a:ea typeface="Arial"/>
                <a:cs typeface="Arial"/>
              </a:defRPr>
            </a:pPr>
            <a:r>
              <a:rPr sz="1200" b="0">
                <a:solidFill>
                  <a:srgbClr val="58716B"/>
                </a:solidFill>
                <a:latin typeface="Arial"/>
                <a:ea typeface="Arial"/>
                <a:cs typeface="Arial"/>
              </a:rPr>
              <a:t>06 / 08</a:t>
            </a:r>
          </a:p>
        </p:txBody>
      </p:sp>
      <p:sp>
        <p:nvSpPr>
          <p:cNvPr id="4" name="">
            <a:extLst xmlns:a="http://schemas.openxmlformats.org/drawingml/2006/main">
              <a:ext uri="{FF2B5EF4-FFF2-40B4-BE49-F238E27FC236}">
                <a16:creationId xmlns:a16="http://schemas.microsoft.com/office/drawing/2014/main" id="{067F0890-CD91-4836-8CCA-513CA8E3174D}"/>
              </a:ext>
            </a:extLst>
          </p:cNvPr>
          <p:cNvSpPr>
            <a:spLocks xmlns:a="http://schemas.openxmlformats.org/drawingml/2006/main" noGrp="1"/>
          </p:cNvSpPr>
          <p:nvPr/>
        </p:nvSpPr>
        <p:spPr>
          <a:xfrm xmlns:a="http://schemas.openxmlformats.org/drawingml/2006/main">
            <a:off x="628650" y="2495550"/>
            <a:ext cx="404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58716B"/>
                </a:solidFill>
                <a:latin typeface="Arial"/>
                <a:ea typeface="Arial"/>
                <a:cs typeface="Arial"/>
              </a:defRPr>
            </a:pPr>
            <a:r>
              <a:rPr sz="1725" b="1">
                <a:solidFill>
                  <a:srgbClr val="58716B"/>
                </a:solidFill>
                <a:latin typeface="Arial"/>
                <a:ea typeface="Arial"/>
                <a:cs typeface="Arial"/>
              </a:rPr>
              <a:t>Initial users</a:t>
            </a:r>
          </a:p>
        </p:txBody>
      </p:sp>
      <p:sp>
        <p:nvSpPr>
          <p:cNvPr id="5" name="">
            <a:extLst xmlns:a="http://schemas.openxmlformats.org/drawingml/2006/main">
              <a:ext uri="{FF2B5EF4-FFF2-40B4-BE49-F238E27FC236}">
                <a16:creationId xmlns:a16="http://schemas.microsoft.com/office/drawing/2014/main" id="{B20AF011-72FC-44FA-B471-1DE9211B2164}"/>
              </a:ext>
            </a:extLst>
          </p:cNvPr>
          <p:cNvSpPr>
            <a:spLocks xmlns:a="http://schemas.openxmlformats.org/drawingml/2006/main" noGrp="1"/>
          </p:cNvSpPr>
          <p:nvPr/>
        </p:nvSpPr>
        <p:spPr>
          <a:xfrm xmlns:a="http://schemas.openxmlformats.org/drawingml/2006/main">
            <a:off x="590550" y="3076575"/>
            <a:ext cx="53530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073A37"/>
                </a:solidFill>
                <a:latin typeface="Arial"/>
                <a:ea typeface="Arial"/>
                <a:cs typeface="Arial"/>
              </a:defRPr>
            </a:pPr>
            <a:r>
              <a:rPr sz="2925" b="1">
                <a:solidFill>
                  <a:srgbClr val="073A37"/>
                </a:solidFill>
                <a:latin typeface="Arial"/>
                <a:ea typeface="Arial"/>
                <a:cs typeface="Arial"/>
              </a:rPr>
              <a:t>Clinical educators</a:t>
            </a:r>
          </a:p>
          <a:p xmlns:a="http://schemas.openxmlformats.org/drawingml/2006/main">
            <a:pPr>
              <a:defRPr sz="2925" b="1">
                <a:solidFill>
                  <a:srgbClr val="073A37"/>
                </a:solidFill>
                <a:latin typeface="Arial"/>
                <a:ea typeface="Arial"/>
                <a:cs typeface="Arial"/>
              </a:defRPr>
            </a:pPr>
            <a:r>
              <a:rPr sz="2925" b="1">
                <a:solidFill>
                  <a:srgbClr val="073A37"/>
                </a:solidFill>
                <a:latin typeface="Arial"/>
                <a:ea typeface="Arial"/>
                <a:cs typeface="Arial"/>
              </a:rPr>
              <a:t>and simulation centers</a:t>
            </a:r>
          </a:p>
        </p:txBody>
      </p:sp>
      <p:sp>
        <p:nvSpPr>
          <p:cNvPr id="6" name="">
            <a:extLst xmlns:a="http://schemas.openxmlformats.org/drawingml/2006/main">
              <a:ext uri="{FF2B5EF4-FFF2-40B4-BE49-F238E27FC236}">
                <a16:creationId xmlns:a16="http://schemas.microsoft.com/office/drawing/2014/main" id="{D8AD55AA-42D7-4797-BB25-266EE83FBF7D}"/>
              </a:ext>
            </a:extLst>
          </p:cNvPr>
          <p:cNvSpPr>
            <a:spLocks xmlns:a="http://schemas.openxmlformats.org/drawingml/2006/main" noGrp="1"/>
          </p:cNvSpPr>
          <p:nvPr/>
        </p:nvSpPr>
        <p:spPr>
          <a:xfrm xmlns:a="http://schemas.openxmlformats.org/drawingml/2006/main">
            <a:off x="6648450" y="249555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58716B"/>
                </a:solidFill>
                <a:latin typeface="Arial"/>
                <a:ea typeface="Arial"/>
                <a:cs typeface="Arial"/>
              </a:defRPr>
            </a:pPr>
            <a:r>
              <a:rPr sz="1725" b="1">
                <a:solidFill>
                  <a:srgbClr val="58716B"/>
                </a:solidFill>
                <a:latin typeface="Arial"/>
                <a:ea typeface="Arial"/>
                <a:cs typeface="Arial"/>
              </a:rPr>
              <a:t>Product hypothesis</a:t>
            </a:r>
          </a:p>
        </p:txBody>
      </p:sp>
      <p:sp>
        <p:nvSpPr>
          <p:cNvPr id="7" name="">
            <a:extLst xmlns:a="http://schemas.openxmlformats.org/drawingml/2006/main">
              <a:ext uri="{FF2B5EF4-FFF2-40B4-BE49-F238E27FC236}">
                <a16:creationId xmlns:a16="http://schemas.microsoft.com/office/drawing/2014/main" id="{56DD2FF9-B33F-431A-A7C2-B330E01BCA0A}"/>
              </a:ext>
            </a:extLst>
          </p:cNvPr>
          <p:cNvSpPr>
            <a:spLocks xmlns:a="http://schemas.openxmlformats.org/drawingml/2006/main" noGrp="1"/>
          </p:cNvSpPr>
          <p:nvPr/>
        </p:nvSpPr>
        <p:spPr>
          <a:xfrm xmlns:a="http://schemas.openxmlformats.org/drawingml/2006/main">
            <a:off x="6610350" y="3076575"/>
            <a:ext cx="471487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23D39"/>
                </a:solidFill>
                <a:latin typeface="Arial"/>
                <a:ea typeface="Arial"/>
                <a:cs typeface="Arial"/>
              </a:defRPr>
            </a:pPr>
            <a:r>
              <a:rPr sz="2250" b="0">
                <a:solidFill>
                  <a:srgbClr val="123D39"/>
                </a:solidFill>
                <a:latin typeface="Arial"/>
                <a:ea typeface="Arial"/>
                <a:cs typeface="Arial"/>
              </a:rPr>
              <a:t>A reviewable handoff exercise</a:t>
            </a:r>
          </a:p>
          <a:p xmlns:a="http://schemas.openxmlformats.org/drawingml/2006/main">
            <a:pPr>
              <a:defRPr sz="2250" b="0">
                <a:solidFill>
                  <a:srgbClr val="123D39"/>
                </a:solidFill>
                <a:latin typeface="Arial"/>
                <a:ea typeface="Arial"/>
                <a:cs typeface="Arial"/>
              </a:defRPr>
            </a:pPr>
            <a:r>
              <a:rPr sz="2250" b="0">
                <a:solidFill>
                  <a:srgbClr val="123D39"/>
                </a:solidFill>
                <a:latin typeface="Arial"/>
                <a:ea typeface="Arial"/>
                <a:cs typeface="Arial"/>
              </a:rPr>
              <a:t>with visible omissions,</a:t>
            </a:r>
          </a:p>
          <a:p xmlns:a="http://schemas.openxmlformats.org/drawingml/2006/main">
            <a:pPr>
              <a:defRPr sz="2250" b="0">
                <a:solidFill>
                  <a:srgbClr val="123D39"/>
                </a:solidFill>
                <a:latin typeface="Arial"/>
                <a:ea typeface="Arial"/>
                <a:cs typeface="Arial"/>
              </a:defRPr>
            </a:pPr>
            <a:r>
              <a:rPr sz="2250" b="0">
                <a:solidFill>
                  <a:srgbClr val="123D39"/>
                </a:solidFill>
                <a:latin typeface="Arial"/>
                <a:ea typeface="Arial"/>
                <a:cs typeface="Arial"/>
              </a:rPr>
              <a:t>clarifications and acceptance.</a:t>
            </a:r>
          </a:p>
        </p:txBody>
      </p:sp>
      <p:sp>
        <p:nvSpPr>
          <p:cNvPr id="8" name="">
            <a:extLst xmlns:a="http://schemas.openxmlformats.org/drawingml/2006/main">
              <a:ext uri="{FF2B5EF4-FFF2-40B4-BE49-F238E27FC236}">
                <a16:creationId xmlns:a16="http://schemas.microsoft.com/office/drawing/2014/main" id="{9868F231-7B45-47EA-9068-B9496EB8F35A}"/>
              </a:ext>
            </a:extLst>
          </p:cNvPr>
          <p:cNvSpPr>
            <a:spLocks xmlns:a="http://schemas.openxmlformats.org/drawingml/2006/main" noGrp="1"/>
          </p:cNvSpPr>
          <p:nvPr/>
        </p:nvSpPr>
        <p:spPr>
          <a:xfrm xmlns:a="http://schemas.openxmlformats.org/drawingml/2006/main">
            <a:off x="628650" y="5200650"/>
            <a:ext cx="10782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23D39"/>
                </a:solidFill>
                <a:latin typeface="Arial"/>
                <a:ea typeface="Arial"/>
                <a:cs typeface="Arial"/>
              </a:defRPr>
            </a:pPr>
            <a:r>
              <a:rPr sz="1950" b="0">
                <a:solidFill>
                  <a:srgbClr val="123D39"/>
                </a:solidFill>
                <a:latin typeface="Arial"/>
                <a:ea typeface="Arial"/>
                <a:cs typeface="Arial"/>
              </a:rPr>
              <a:t>Commercial hypothesis: institution subscription for training sessions.</a:t>
            </a:r>
          </a:p>
        </p:txBody>
      </p:sp>
      <p:sp>
        <p:nvSpPr>
          <p:cNvPr id="9" name="">
            <a:extLst xmlns:a="http://schemas.openxmlformats.org/drawingml/2006/main">
              <a:ext uri="{FF2B5EF4-FFF2-40B4-BE49-F238E27FC236}">
                <a16:creationId xmlns:a16="http://schemas.microsoft.com/office/drawing/2014/main" id="{28C36B96-0291-4D7F-999E-F132764BA469}"/>
              </a:ext>
            </a:extLst>
          </p:cNvPr>
          <p:cNvSpPr>
            <a:spLocks xmlns:a="http://schemas.openxmlformats.org/drawingml/2006/main" noGrp="1"/>
          </p:cNvSpPr>
          <p:nvPr/>
        </p:nvSpPr>
        <p:spPr>
          <a:xfrm xmlns:a="http://schemas.openxmlformats.org/drawingml/2006/main">
            <a:off x="628650" y="5962650"/>
            <a:ext cx="962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8716B"/>
                </a:solidFill>
                <a:latin typeface="Arial"/>
                <a:ea typeface="Arial"/>
                <a:cs typeface="Arial"/>
              </a:defRPr>
            </a:pPr>
            <a:r>
              <a:rPr sz="1275" b="0">
                <a:solidFill>
                  <a:srgbClr val="58716B"/>
                </a:solidFill>
                <a:latin typeface="Arial"/>
                <a:ea typeface="Arial"/>
                <a:cs typeface="Arial"/>
              </a:rPr>
              <a:t>Customer demand, pricing and clinical benefit remain unvalidated.</a:t>
            </a:r>
          </a:p>
        </p:txBody>
      </p:sp>
    </p:spTree>
    <p:extLst>
      <p:ext uri="{BB962C8B-B14F-4D97-AF65-F5344CB8AC3E}">
        <p14:creationId xmlns:p14="http://schemas.microsoft.com/office/powerpoint/2010/main" val="1954554235"/>
      </p:ext>
    </p:extLst>
  </p:cSld>
</p:sld>
</file>

<file path=ppt/slides/slide7.xml><?xml version="1.0" encoding="utf-8"?>
<p:sld xmlns:p="http://schemas.openxmlformats.org/presentationml/2006/main">
  <p:cSld>
    <p:bg>
      <p:bgPr>
        <a:solidFill xmlns:a="http://schemas.openxmlformats.org/drawingml/2006/main">
          <a:srgbClr val="F5F8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279303-5434-4A80-9B26-0CC7EFBEFD63}"/>
              </a:ext>
            </a:extLst>
          </p:cNvPr>
          <p:cNvSpPr>
            <a:spLocks xmlns:a="http://schemas.openxmlformats.org/drawingml/2006/main" noGrp="1"/>
          </p:cNvSpPr>
          <p:nvPr/>
        </p:nvSpPr>
        <p:spPr>
          <a:xfrm xmlns:a="http://schemas.openxmlformats.org/drawingml/2006/main">
            <a:off x="628650" y="3619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8716B"/>
                </a:solidFill>
                <a:latin typeface="Arial"/>
                <a:ea typeface="Arial"/>
                <a:cs typeface="Arial"/>
              </a:defRPr>
            </a:pPr>
            <a:r>
              <a:rPr sz="1350" b="1">
                <a:solidFill>
                  <a:srgbClr val="58716B"/>
                </a:solidFill>
                <a:latin typeface="Arial"/>
                <a:ea typeface="Arial"/>
                <a:cs typeface="Arial"/>
              </a:rPr>
              <a:t>CARETHREAD</a:t>
            </a:r>
          </a:p>
        </p:txBody>
      </p:sp>
      <p:sp>
        <p:nvSpPr>
          <p:cNvPr id="2" name="">
            <a:extLst xmlns:a="http://schemas.openxmlformats.org/drawingml/2006/main">
              <a:ext uri="{FF2B5EF4-FFF2-40B4-BE49-F238E27FC236}">
                <a16:creationId xmlns:a16="http://schemas.microsoft.com/office/drawing/2014/main" id="{142FF5AB-27B9-4618-A3F8-DECCCF20B565}"/>
              </a:ext>
            </a:extLst>
          </p:cNvPr>
          <p:cNvSpPr>
            <a:spLocks xmlns:a="http://schemas.openxmlformats.org/drawingml/2006/main" noGrp="1"/>
          </p:cNvSpPr>
          <p:nvPr/>
        </p:nvSpPr>
        <p:spPr>
          <a:xfrm xmlns:a="http://schemas.openxmlformats.org/drawingml/2006/main">
            <a:off x="628650" y="1000125"/>
            <a:ext cx="109347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23D39"/>
                </a:solidFill>
                <a:latin typeface="Arial"/>
                <a:ea typeface="Arial"/>
                <a:cs typeface="Arial"/>
              </a:defRPr>
            </a:pPr>
            <a:r>
              <a:rPr sz="3900" b="1">
                <a:solidFill>
                  <a:srgbClr val="123D39"/>
                </a:solidFill>
                <a:latin typeface="Arial"/>
                <a:ea typeface="Arial"/>
                <a:cs typeface="Arial"/>
              </a:rPr>
              <a:t>Validation and limitations</a:t>
            </a:r>
          </a:p>
        </p:txBody>
      </p:sp>
      <p:sp>
        <p:nvSpPr>
          <p:cNvPr id="3" name="">
            <a:extLst xmlns:a="http://schemas.openxmlformats.org/drawingml/2006/main">
              <a:ext uri="{FF2B5EF4-FFF2-40B4-BE49-F238E27FC236}">
                <a16:creationId xmlns:a16="http://schemas.microsoft.com/office/drawing/2014/main" id="{44648C3F-DB5B-4D5F-BE81-689C6D75CCDC}"/>
              </a:ext>
            </a:extLst>
          </p:cNvPr>
          <p:cNvSpPr>
            <a:spLocks xmlns:a="http://schemas.openxmlformats.org/drawingml/2006/main" noGrp="1"/>
          </p:cNvSpPr>
          <p:nvPr/>
        </p:nvSpPr>
        <p:spPr>
          <a:xfrm xmlns:a="http://schemas.openxmlformats.org/drawingml/2006/main">
            <a:off x="10620375" y="6210300"/>
            <a:ext cx="1000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B"/>
                </a:solidFill>
                <a:latin typeface="Arial"/>
                <a:ea typeface="Arial"/>
                <a:cs typeface="Arial"/>
              </a:defRPr>
            </a:pPr>
            <a:r>
              <a:rPr sz="1200" b="0">
                <a:solidFill>
                  <a:srgbClr val="58716B"/>
                </a:solidFill>
                <a:latin typeface="Arial"/>
                <a:ea typeface="Arial"/>
                <a:cs typeface="Arial"/>
              </a:rPr>
              <a:t>07 / 08</a:t>
            </a:r>
          </a:p>
        </p:txBody>
      </p:sp>
      <p:sp>
        <p:nvSpPr>
          <p:cNvPr id="4" name="">
            <a:extLst xmlns:a="http://schemas.openxmlformats.org/drawingml/2006/main">
              <a:ext uri="{FF2B5EF4-FFF2-40B4-BE49-F238E27FC236}">
                <a16:creationId xmlns:a16="http://schemas.microsoft.com/office/drawing/2014/main" id="{091D5F62-3C17-455B-88AC-00FED4F57CD4}"/>
              </a:ext>
            </a:extLst>
          </p:cNvPr>
          <p:cNvSpPr>
            <a:spLocks xmlns:a="http://schemas.openxmlformats.org/drawingml/2006/main" noGrp="1"/>
          </p:cNvSpPr>
          <p:nvPr/>
        </p:nvSpPr>
        <p:spPr>
          <a:xfrm xmlns:a="http://schemas.openxmlformats.org/drawingml/2006/main">
            <a:off x="628650" y="2438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073A37"/>
                </a:solidFill>
                <a:latin typeface="Arial"/>
                <a:ea typeface="Arial"/>
                <a:cs typeface="Arial"/>
              </a:defRPr>
            </a:pPr>
            <a:r>
              <a:rPr sz="2925" b="1">
                <a:solidFill>
                  <a:srgbClr val="073A37"/>
                </a:solidFill>
                <a:latin typeface="Arial"/>
                <a:ea typeface="Arial"/>
                <a:cs typeface="Arial"/>
              </a:rPr>
              <a:t>20 deterministic tests passed</a:t>
            </a:r>
          </a:p>
        </p:txBody>
      </p:sp>
      <p:sp>
        <p:nvSpPr>
          <p:cNvPr id="5" name="">
            <a:extLst xmlns:a="http://schemas.openxmlformats.org/drawingml/2006/main">
              <a:ext uri="{FF2B5EF4-FFF2-40B4-BE49-F238E27FC236}">
                <a16:creationId xmlns:a16="http://schemas.microsoft.com/office/drawing/2014/main" id="{46BE7378-3FF5-463A-95EC-32EECC37982A}"/>
              </a:ext>
            </a:extLst>
          </p:cNvPr>
          <p:cNvSpPr>
            <a:spLocks xmlns:a="http://schemas.openxmlformats.org/drawingml/2006/main" noGrp="1"/>
          </p:cNvSpPr>
          <p:nvPr/>
        </p:nvSpPr>
        <p:spPr>
          <a:xfrm xmlns:a="http://schemas.openxmlformats.org/drawingml/2006/main">
            <a:off x="628650" y="3381375"/>
            <a:ext cx="10715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23D39"/>
                </a:solidFill>
                <a:latin typeface="Arial"/>
                <a:ea typeface="Arial"/>
                <a:cs typeface="Arial"/>
              </a:defRPr>
            </a:pPr>
            <a:r>
              <a:rPr sz="2100" b="0">
                <a:solidFill>
                  <a:srgbClr val="123D39"/>
                </a:solidFill>
                <a:latin typeface="Arial"/>
                <a:ea typeface="Arial"/>
                <a:cs typeface="Arial"/>
              </a:rPr>
              <a:t>State-engine checks: 20 / 20 passing</a:t>
            </a:r>
          </a:p>
        </p:txBody>
      </p:sp>
      <p:sp>
        <p:nvSpPr>
          <p:cNvPr id="6" name="">
            <a:extLst xmlns:a="http://schemas.openxmlformats.org/drawingml/2006/main">
              <a:ext uri="{FF2B5EF4-FFF2-40B4-BE49-F238E27FC236}">
                <a16:creationId xmlns:a16="http://schemas.microsoft.com/office/drawing/2014/main" id="{F69CAAC2-962F-4D43-86D5-2FCFAB7A76C5}"/>
              </a:ext>
            </a:extLst>
          </p:cNvPr>
          <p:cNvSpPr>
            <a:spLocks xmlns:a="http://schemas.openxmlformats.org/drawingml/2006/main" noGrp="1"/>
          </p:cNvSpPr>
          <p:nvPr/>
        </p:nvSpPr>
        <p:spPr>
          <a:xfrm xmlns:a="http://schemas.openxmlformats.org/drawingml/2006/main">
            <a:off x="628650" y="3952875"/>
            <a:ext cx="10715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23D39"/>
                </a:solidFill>
                <a:latin typeface="Arial"/>
                <a:ea typeface="Arial"/>
                <a:cs typeface="Arial"/>
              </a:defRPr>
            </a:pPr>
            <a:r>
              <a:rPr sz="2100" b="0">
                <a:solidFill>
                  <a:srgbClr val="123D39"/>
                </a:solidFill>
                <a:latin typeface="Arial"/>
                <a:ea typeface="Arial"/>
                <a:cs typeface="Arial"/>
              </a:rPr>
              <a:t>Voice session connected; full flow still under review</a:t>
            </a:r>
          </a:p>
        </p:txBody>
      </p:sp>
      <p:sp>
        <p:nvSpPr>
          <p:cNvPr id="7" name="">
            <a:extLst xmlns:a="http://schemas.openxmlformats.org/drawingml/2006/main">
              <a:ext uri="{FF2B5EF4-FFF2-40B4-BE49-F238E27FC236}">
                <a16:creationId xmlns:a16="http://schemas.microsoft.com/office/drawing/2014/main" id="{3054D99A-AA9F-4E17-8BEE-1CA2153B6BA6}"/>
              </a:ext>
            </a:extLst>
          </p:cNvPr>
          <p:cNvSpPr>
            <a:spLocks xmlns:a="http://schemas.openxmlformats.org/drawingml/2006/main" noGrp="1"/>
          </p:cNvSpPr>
          <p:nvPr/>
        </p:nvSpPr>
        <p:spPr>
          <a:xfrm xmlns:a="http://schemas.openxmlformats.org/drawingml/2006/main">
            <a:off x="628650" y="4524375"/>
            <a:ext cx="107156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23D39"/>
                </a:solidFill>
                <a:latin typeface="Arial"/>
                <a:ea typeface="Arial"/>
                <a:cs typeface="Arial"/>
              </a:defRPr>
            </a:pPr>
            <a:r>
              <a:rPr sz="2100" b="0">
                <a:solidFill>
                  <a:srgbClr val="123D39"/>
                </a:solidFill>
                <a:latin typeface="Arial"/>
                <a:ea typeface="Arial"/>
                <a:cs typeface="Arial"/>
              </a:rPr>
              <a:t>Clinical outcomes and live reliability: not established</a:t>
            </a:r>
          </a:p>
        </p:txBody>
      </p:sp>
      <p:sp>
        <p:nvSpPr>
          <p:cNvPr id="8" name="">
            <a:extLst xmlns:a="http://schemas.openxmlformats.org/drawingml/2006/main">
              <a:ext uri="{FF2B5EF4-FFF2-40B4-BE49-F238E27FC236}">
                <a16:creationId xmlns:a16="http://schemas.microsoft.com/office/drawing/2014/main" id="{FEAF6243-7C16-4E13-85CF-2961200D848A}"/>
              </a:ext>
            </a:extLst>
          </p:cNvPr>
          <p:cNvSpPr>
            <a:spLocks xmlns:a="http://schemas.openxmlformats.org/drawingml/2006/main" noGrp="1"/>
          </p:cNvSpPr>
          <p:nvPr/>
        </p:nvSpPr>
        <p:spPr>
          <a:xfrm xmlns:a="http://schemas.openxmlformats.org/drawingml/2006/main">
            <a:off x="628650" y="52959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073A37"/>
                </a:solidFill>
                <a:latin typeface="Arial"/>
                <a:ea typeface="Arial"/>
                <a:cs typeface="Arial"/>
              </a:defRPr>
            </a:pPr>
            <a:r>
              <a:rPr sz="1950" b="1">
                <a:solidFill>
                  <a:srgbClr val="073A37"/>
                </a:solidFill>
                <a:latin typeface="Arial"/>
                <a:ea typeface="Arial"/>
                <a:cs typeface="Arial"/>
              </a:rPr>
              <a:t>No patient-outcome evidence or clinical deployment claim</a:t>
            </a:r>
          </a:p>
        </p:txBody>
      </p:sp>
      <p:sp>
        <p:nvSpPr>
          <p:cNvPr id="9" name="">
            <a:extLst xmlns:a="http://schemas.openxmlformats.org/drawingml/2006/main">
              <a:ext uri="{FF2B5EF4-FFF2-40B4-BE49-F238E27FC236}">
                <a16:creationId xmlns:a16="http://schemas.microsoft.com/office/drawing/2014/main" id="{704307BC-4021-4343-BE74-C9EB1E55A8F7}"/>
              </a:ext>
            </a:extLst>
          </p:cNvPr>
          <p:cNvSpPr>
            <a:spLocks xmlns:a="http://schemas.openxmlformats.org/drawingml/2006/main" noGrp="1"/>
          </p:cNvSpPr>
          <p:nvPr/>
        </p:nvSpPr>
        <p:spPr>
          <a:xfrm xmlns:a="http://schemas.openxmlformats.org/drawingml/2006/main">
            <a:off x="628650" y="5962650"/>
            <a:ext cx="962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8716B"/>
                </a:solidFill>
                <a:latin typeface="Arial"/>
                <a:ea typeface="Arial"/>
                <a:cs typeface="Arial"/>
              </a:defRPr>
            </a:pPr>
            <a:r>
              <a:rPr sz="1275" b="0">
                <a:solidFill>
                  <a:srgbClr val="58716B"/>
                </a:solidFill>
                <a:latin typeface="Arial"/>
                <a:ea typeface="Arial"/>
                <a:cs typeface="Arial"/>
              </a:rPr>
              <a:t>Reported checks describe this prototype only. Live speech and clinical outcomes require separate evidence.</a:t>
            </a:r>
          </a:p>
        </p:txBody>
      </p:sp>
    </p:spTree>
    <p:extLst>
      <p:ext uri="{BB962C8B-B14F-4D97-AF65-F5344CB8AC3E}">
        <p14:creationId xmlns:p14="http://schemas.microsoft.com/office/powerpoint/2010/main" val="1920809248"/>
      </p:ext>
    </p:extLst>
  </p:cSld>
</p:sld>
</file>

<file path=ppt/slides/slide8.xml><?xml version="1.0" encoding="utf-8"?>
<p:sld xmlns:p="http://schemas.openxmlformats.org/presentationml/2006/main">
  <p:cSld>
    <p:bg>
      <p:bgPr>
        <a:solidFill xmlns:a="http://schemas.openxmlformats.org/drawingml/2006/main">
          <a:srgbClr val="073A3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937343-CB6A-4FE8-A68E-4AE7C5DF1912}"/>
              </a:ext>
            </a:extLst>
          </p:cNvPr>
          <p:cNvSpPr>
            <a:spLocks xmlns:a="http://schemas.openxmlformats.org/drawingml/2006/main" noGrp="1"/>
          </p:cNvSpPr>
          <p:nvPr/>
        </p:nvSpPr>
        <p:spPr>
          <a:xfrm xmlns:a="http://schemas.openxmlformats.org/drawingml/2006/main">
            <a:off x="628650" y="361950"/>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A9C4BA"/>
                </a:solidFill>
                <a:latin typeface="Arial"/>
                <a:ea typeface="Arial"/>
                <a:cs typeface="Arial"/>
              </a:defRPr>
            </a:pPr>
            <a:r>
              <a:rPr sz="1350" b="1">
                <a:solidFill>
                  <a:srgbClr val="A9C4BA"/>
                </a:solidFill>
                <a:latin typeface="Arial"/>
                <a:ea typeface="Arial"/>
                <a:cs typeface="Arial"/>
              </a:rPr>
              <a:t>CARETHREAD</a:t>
            </a:r>
          </a:p>
        </p:txBody>
      </p:sp>
      <p:sp>
        <p:nvSpPr>
          <p:cNvPr id="2" name="">
            <a:extLst xmlns:a="http://schemas.openxmlformats.org/drawingml/2006/main">
              <a:ext uri="{FF2B5EF4-FFF2-40B4-BE49-F238E27FC236}">
                <a16:creationId xmlns:a16="http://schemas.microsoft.com/office/drawing/2014/main" id="{FF12B9B1-626D-4B01-9F5F-40074DA3A08D}"/>
              </a:ext>
            </a:extLst>
          </p:cNvPr>
          <p:cNvSpPr>
            <a:spLocks xmlns:a="http://schemas.openxmlformats.org/drawingml/2006/main" noGrp="1"/>
          </p:cNvSpPr>
          <p:nvPr/>
        </p:nvSpPr>
        <p:spPr>
          <a:xfrm xmlns:a="http://schemas.openxmlformats.org/drawingml/2006/main">
            <a:off x="628650" y="1000125"/>
            <a:ext cx="109347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FFFFFF"/>
                </a:solidFill>
                <a:latin typeface="Arial"/>
                <a:ea typeface="Arial"/>
                <a:cs typeface="Arial"/>
              </a:defRPr>
            </a:pPr>
            <a:r>
              <a:rPr sz="3900" b="1">
                <a:solidFill>
                  <a:srgbClr val="FFFFFF"/>
                </a:solidFill>
                <a:latin typeface="Arial"/>
                <a:ea typeface="Arial"/>
                <a:cs typeface="Arial"/>
              </a:rPr>
              <a:t>CareThread keeps the handoff reviewable</a:t>
            </a:r>
          </a:p>
        </p:txBody>
      </p:sp>
      <p:sp>
        <p:nvSpPr>
          <p:cNvPr id="3" name="">
            <a:extLst xmlns:a="http://schemas.openxmlformats.org/drawingml/2006/main">
              <a:ext uri="{FF2B5EF4-FFF2-40B4-BE49-F238E27FC236}">
                <a16:creationId xmlns:a16="http://schemas.microsoft.com/office/drawing/2014/main" id="{D199E73A-28F0-4686-884D-347FC776C393}"/>
              </a:ext>
            </a:extLst>
          </p:cNvPr>
          <p:cNvSpPr>
            <a:spLocks xmlns:a="http://schemas.openxmlformats.org/drawingml/2006/main" noGrp="1"/>
          </p:cNvSpPr>
          <p:nvPr/>
        </p:nvSpPr>
        <p:spPr>
          <a:xfrm xmlns:a="http://schemas.openxmlformats.org/drawingml/2006/main">
            <a:off x="10620375" y="6210300"/>
            <a:ext cx="1000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C4BA"/>
                </a:solidFill>
                <a:latin typeface="Arial"/>
                <a:ea typeface="Arial"/>
                <a:cs typeface="Arial"/>
              </a:defRPr>
            </a:pPr>
            <a:r>
              <a:rPr sz="1200" b="0">
                <a:solidFill>
                  <a:srgbClr val="A9C4BA"/>
                </a:solidFill>
                <a:latin typeface="Arial"/>
                <a:ea typeface="Arial"/>
                <a:cs typeface="Arial"/>
              </a:rPr>
              <a:t>08 / 08</a:t>
            </a:r>
          </a:p>
        </p:txBody>
      </p:sp>
      <p:sp>
        <p:nvSpPr>
          <p:cNvPr id="4" name="">
            <a:extLst xmlns:a="http://schemas.openxmlformats.org/drawingml/2006/main">
              <a:ext uri="{FF2B5EF4-FFF2-40B4-BE49-F238E27FC236}">
                <a16:creationId xmlns:a16="http://schemas.microsoft.com/office/drawing/2014/main" id="{33378C11-947B-4126-B933-66A23D932819}"/>
              </a:ext>
            </a:extLst>
          </p:cNvPr>
          <p:cNvSpPr>
            <a:spLocks xmlns:a="http://schemas.openxmlformats.org/drawingml/2006/main" noGrp="1"/>
          </p:cNvSpPr>
          <p:nvPr/>
        </p:nvSpPr>
        <p:spPr>
          <a:xfrm xmlns:a="http://schemas.openxmlformats.org/drawingml/2006/main">
            <a:off x="590550" y="2362200"/>
            <a:ext cx="10287000" cy="2266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FFFFFF"/>
                </a:solidFill>
                <a:latin typeface="Arial"/>
                <a:ea typeface="Arial"/>
                <a:cs typeface="Arial"/>
              </a:defRPr>
            </a:pPr>
            <a:r>
              <a:rPr sz="4350" b="1">
                <a:solidFill>
                  <a:srgbClr val="FFFFFF"/>
                </a:solidFill>
                <a:latin typeface="Arial"/>
                <a:ea typeface="Arial"/>
                <a:cs typeface="Arial"/>
              </a:rPr>
              <a:t>Every open item keeps</a:t>
            </a:r>
          </a:p>
          <a:p xmlns:a="http://schemas.openxmlformats.org/drawingml/2006/main">
            <a:pPr>
              <a:defRPr sz="4350" b="1">
                <a:solidFill>
                  <a:srgbClr val="FFFFFF"/>
                </a:solidFill>
                <a:latin typeface="Arial"/>
                <a:ea typeface="Arial"/>
                <a:cs typeface="Arial"/>
              </a:defRPr>
            </a:pPr>
            <a:r>
              <a:rPr sz="4350" b="1">
                <a:solidFill>
                  <a:srgbClr val="FFFFFF"/>
                </a:solidFill>
                <a:latin typeface="Arial"/>
                <a:ea typeface="Arial"/>
                <a:cs typeface="Arial"/>
              </a:rPr>
              <a:t>its owner, timing</a:t>
            </a:r>
          </a:p>
          <a:p xmlns:a="http://schemas.openxmlformats.org/drawingml/2006/main">
            <a:pPr>
              <a:defRPr sz="4350" b="1">
                <a:solidFill>
                  <a:srgbClr val="FFFFFF"/>
                </a:solidFill>
                <a:latin typeface="Arial"/>
                <a:ea typeface="Arial"/>
                <a:cs typeface="Arial"/>
              </a:defRPr>
            </a:pPr>
            <a:r>
              <a:rPr sz="4350" b="1">
                <a:solidFill>
                  <a:srgbClr val="FFFFFF"/>
                </a:solidFill>
                <a:latin typeface="Arial"/>
                <a:ea typeface="Arial"/>
                <a:cs typeface="Arial"/>
              </a:rPr>
              <a:t>and source statement.</a:t>
            </a:r>
          </a:p>
        </p:txBody>
      </p:sp>
      <p:sp>
        <p:nvSpPr>
          <p:cNvPr id="5" name="">
            <a:extLst xmlns:a="http://schemas.openxmlformats.org/drawingml/2006/main">
              <a:ext uri="{FF2B5EF4-FFF2-40B4-BE49-F238E27FC236}">
                <a16:creationId xmlns:a16="http://schemas.microsoft.com/office/drawing/2014/main" id="{44EC7D56-7F46-4BC7-B506-CFD0BF8DCBE5}"/>
              </a:ext>
            </a:extLst>
          </p:cNvPr>
          <p:cNvSpPr>
            <a:spLocks xmlns:a="http://schemas.openxmlformats.org/drawingml/2006/main" noGrp="1"/>
          </p:cNvSpPr>
          <p:nvPr/>
        </p:nvSpPr>
        <p:spPr>
          <a:xfrm xmlns:a="http://schemas.openxmlformats.org/drawingml/2006/main">
            <a:off x="628650" y="5133975"/>
            <a:ext cx="1028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D7FF78"/>
                </a:solidFill>
                <a:latin typeface="Arial"/>
                <a:ea typeface="Arial"/>
                <a:cs typeface="Arial"/>
              </a:defRPr>
            </a:pPr>
            <a:r>
              <a:rPr sz="2175" b="0">
                <a:solidFill>
                  <a:srgbClr val="D7FF78"/>
                </a:solidFill>
                <a:latin typeface="Arial"/>
                <a:ea typeface="Arial"/>
                <a:cs typeface="Arial"/>
              </a:rPr>
              <a:t>Next: clinician feedback on the simulation</a:t>
            </a:r>
          </a:p>
          <a:p xmlns:a="http://schemas.openxmlformats.org/drawingml/2006/main">
            <a:pPr>
              <a:defRPr sz="2175" b="0">
                <a:solidFill>
                  <a:srgbClr val="D7FF78"/>
                </a:solidFill>
                <a:latin typeface="Arial"/>
                <a:ea typeface="Arial"/>
                <a:cs typeface="Arial"/>
              </a:defRPr>
            </a:pPr>
            <a:r>
              <a:rPr sz="2175" b="0">
                <a:solidFill>
                  <a:srgbClr val="D7FF78"/>
                </a:solidFill>
                <a:latin typeface="Arial"/>
                <a:ea typeface="Arial"/>
                <a:cs typeface="Arial"/>
              </a:rPr>
              <a:t>and measured handoff usability.</a:t>
            </a:r>
          </a:p>
        </p:txBody>
      </p:sp>
      <p:sp>
        <p:nvSpPr>
          <p:cNvPr id="6" name="">
            <a:extLst xmlns:a="http://schemas.openxmlformats.org/drawingml/2006/main">
              <a:ext uri="{FF2B5EF4-FFF2-40B4-BE49-F238E27FC236}">
                <a16:creationId xmlns:a16="http://schemas.microsoft.com/office/drawing/2014/main" id="{037BAD61-4263-4492-BE1E-13D38DC753D6}"/>
              </a:ext>
            </a:extLst>
          </p:cNvPr>
          <p:cNvSpPr>
            <a:spLocks xmlns:a="http://schemas.openxmlformats.org/drawingml/2006/main" noGrp="1"/>
          </p:cNvSpPr>
          <p:nvPr/>
        </p:nvSpPr>
        <p:spPr>
          <a:xfrm xmlns:a="http://schemas.openxmlformats.org/drawingml/2006/main">
            <a:off x="628650" y="5962650"/>
            <a:ext cx="962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A9C4BA"/>
                </a:solidFill>
                <a:latin typeface="Arial"/>
                <a:ea typeface="Arial"/>
                <a:cs typeface="Arial"/>
              </a:defRPr>
            </a:pPr>
            <a:r>
              <a:rPr sz="1275" b="0">
                <a:solidFill>
                  <a:srgbClr val="A9C4BA"/>
                </a:solidFill>
                <a:latin typeface="Arial"/>
                <a:ea typeface="Arial"/>
                <a:cs typeface="Arial"/>
              </a:rPr>
              <a:t>Synthetic scenario replay is separate from live microphone mode. No diagnosis or treatment decisions.</a:t>
            </a:r>
          </a:p>
        </p:txBody>
      </p:sp>
    </p:spTree>
    <p:extLst>
      <p:ext uri="{BB962C8B-B14F-4D97-AF65-F5344CB8AC3E}">
        <p14:creationId xmlns:p14="http://schemas.microsoft.com/office/powerpoint/2010/main" val="2452556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2026-09-30T07:56:14.9370000Z</dcterms:created>
  <dcterms:modified xsi:type="dcterms:W3CDTF">2026-09-30T07:56:14.9370000Z</dcterms:modified>
</coreProperties>
</file>