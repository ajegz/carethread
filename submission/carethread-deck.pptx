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4d44a687f54275" /><Relationship Type="http://schemas.openxmlformats.org/officeDocument/2006/relationships/extended-properties" Target="/docProps/app.xml" Id="R4438033d9dbe4cb3" /><Relationship Type="http://schemas.openxmlformats.org/officeDocument/2006/relationships/officeDocument" Target="/ppt/presentation.xml" Id="R4e974b3317f9485a" /></Relationships>
</file>

<file path=ppt/presentation.xml><?xml version="1.0" encoding="utf-8"?>
<p:presentation xmlns:p="http://schemas.openxmlformats.org/presentationml/2006/main">
  <p:sldMasterIdLst>
    <p:sldMasterId xmlns:r="http://schemas.openxmlformats.org/officeDocument/2006/relationships" id="2147483648" r:id="R8a161b5a62ac45bf"/>
  </p:sldMasterIdLst>
  <p:notesMasterIdLst>
    <p:notesMasterId xmlns:r="http://schemas.openxmlformats.org/officeDocument/2006/relationships" r:id="R89e661c7f6f4482c"/>
  </p:notesMasterIdLst>
  <p:sldIdLst>
    <p:sldId xmlns:r="http://schemas.openxmlformats.org/officeDocument/2006/relationships" id="256" r:id="Rb1dd03fa91db41d2"/>
    <p:sldId xmlns:r="http://schemas.openxmlformats.org/officeDocument/2006/relationships" id="257" r:id="R7040605081324ea6"/>
    <p:sldId xmlns:r="http://schemas.openxmlformats.org/officeDocument/2006/relationships" id="258" r:id="Ra54044cc44d74dda"/>
    <p:sldId xmlns:r="http://schemas.openxmlformats.org/officeDocument/2006/relationships" id="259" r:id="R0535c59cb5d442ed"/>
    <p:sldId xmlns:r="http://schemas.openxmlformats.org/officeDocument/2006/relationships" id="260" r:id="Rfd3b952962e74a9a"/>
    <p:sldId xmlns:r="http://schemas.openxmlformats.org/officeDocument/2006/relationships" id="261" r:id="R3fd3b07b550e485a"/>
    <p:sldId xmlns:r="http://schemas.openxmlformats.org/officeDocument/2006/relationships" id="262" r:id="R1a8ce1fcfd644921"/>
    <p:sldId xmlns:r="http://schemas.openxmlformats.org/officeDocument/2006/relationships" id="263" r:id="R1305b64143a04f4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f11d194e7246b6" /><Relationship Type="http://schemas.openxmlformats.org/officeDocument/2006/relationships/slideMaster" Target="/ppt/slideMasters/slideMaster1.xml" Id="R8a161b5a62ac45bf" /><Relationship Type="http://schemas.openxmlformats.org/officeDocument/2006/relationships/notesMaster" Target="/ppt/notesMasters/notesMaster1.xml" Id="R89e661c7f6f4482c" /><Relationship Type="http://schemas.openxmlformats.org/officeDocument/2006/relationships/presProps" Target="/ppt/presProps.xml" Id="R14c83f164da944bc" /><Relationship Type="http://schemas.openxmlformats.org/officeDocument/2006/relationships/tableStyles" Target="/ppt/tableStyles.xml" Id="R687231f95dfc444b" /><Relationship Type="http://schemas.openxmlformats.org/officeDocument/2006/relationships/slide" Target="/ppt/slides/slide1.xml" Id="Rb1dd03fa91db41d2" /><Relationship Type="http://schemas.openxmlformats.org/officeDocument/2006/relationships/slide" Target="/ppt/slides/slide2.xml" Id="R7040605081324ea6" /><Relationship Type="http://schemas.openxmlformats.org/officeDocument/2006/relationships/slide" Target="/ppt/slides/slide3.xml" Id="Ra54044cc44d74dda" /><Relationship Type="http://schemas.openxmlformats.org/officeDocument/2006/relationships/slide" Target="/ppt/slides/slide4.xml" Id="R0535c59cb5d442ed" /><Relationship Type="http://schemas.openxmlformats.org/officeDocument/2006/relationships/slide" Target="/ppt/slides/slide5.xml" Id="Rfd3b952962e74a9a" /><Relationship Type="http://schemas.openxmlformats.org/officeDocument/2006/relationships/slide" Target="/ppt/slides/slide6.xml" Id="R3fd3b07b550e485a" /><Relationship Type="http://schemas.openxmlformats.org/officeDocument/2006/relationships/slide" Target="/ppt/slides/slide7.xml" Id="R1a8ce1fcfd644921" /><Relationship Type="http://schemas.openxmlformats.org/officeDocument/2006/relationships/slide" Target="/ppt/slides/slide8.xml" Id="R1305b64143a04f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0bc9996e5940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a711fd5b6f4f1f" /><Relationship Type="http://schemas.openxmlformats.org/officeDocument/2006/relationships/notesMaster" Target="/ppt/notesMasters/notesMaster1.xml" Id="Re8df9448e62e44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ffafb305094429" /><Relationship Type="http://schemas.openxmlformats.org/officeDocument/2006/relationships/notesMaster" Target="/ppt/notesMasters/notesMaster1.xml" Id="R9e63470ce9b24b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fb36a9ec2a4313" /><Relationship Type="http://schemas.openxmlformats.org/officeDocument/2006/relationships/notesMaster" Target="/ppt/notesMasters/notesMaster1.xml" Id="Rd0867f884d5740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5ea652786a4a89" /><Relationship Type="http://schemas.openxmlformats.org/officeDocument/2006/relationships/notesMaster" Target="/ppt/notesMasters/notesMaster1.xml" Id="R2b448a48f4884f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9e969d1dce4f08" /><Relationship Type="http://schemas.openxmlformats.org/officeDocument/2006/relationships/notesMaster" Target="/ppt/notesMasters/notesMaster1.xml" Id="R7fd5e022c2eb48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744425e6bf4fbc" /><Relationship Type="http://schemas.openxmlformats.org/officeDocument/2006/relationships/notesMaster" Target="/ppt/notesMasters/notesMaster1.xml" Id="R7c5e3e7addaa4c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45eb65075404eca" /><Relationship Type="http://schemas.openxmlformats.org/officeDocument/2006/relationships/notesMaster" Target="/ppt/notesMasters/notesMaster1.xml" Id="Rfb5374c28b674e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c58a5ffa304d92" /><Relationship Type="http://schemas.openxmlformats.org/officeDocument/2006/relationships/notesMaster" Target="/ppt/notesMasters/notesMaster1.xml" Id="Rb1acd294ff8b4a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CareThread is a clinical communication simulation prototype. No clinical outcome claims. Artwork generated with the built-in imagegen tool, September 30, 2026, and is conceptual. Sources: CLINICAL-VOICE-PROJECT-BRIEF.md and BUILD-AND-DELIVERY-PLAN.md.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AHRQ TeamSTEPPS handoff guidance covers uncertainty, contingencies and acknowledged transfer of responsibility. This example is fictional and is not clinical advice. https://www.ahrq.gov/teamstepps-program/curriculum/communication/tools/handoff.html ; https://www.ahrq.gov/teamstepps-program/curriculum/communication/tools/checkback.html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scenario replay. These are clinician-stated details in a fictional handoff, not a treatment recommendation. Every field should link to its source turn in the 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Prototype state semantics, not validated clinical practice. Acceptance requires the current version and required fields. A clinician-reported completion does not mean the software independently observed the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implemented architecture: AssemblyAI managed Voice Agent API handles speech and conversational replies with tools: []. Each final human transcript is analyzed by a server-side AssemblyAI LLM Gateway JSON planner, using qwen3.5-4b-32k-fast. Deterministic state validation applies source-linked proposals. The model does not directly mutate app state. Same-browser IndexedDB persistence and exports. https://www.assemblyai.com/docs/voice-agents/voice-agent-api/browser-integration ; https://www.assemblyai.com/docs/llm-gateway/quickstart . Local persistence does not imply offline processing or hospital suitability. One synthetic audio fixture passed the full speech-to-board path in qa/integrated-voice-result.json.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 customer and subscription model are hypotheses, not existing customers or revenue. Next milestone is clinician feedback on simulation usability, followed by comparative workflow evaluation. Clinical deployment would require additional validation, authentication, privacy/security work and institutional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{"status":"recorded","headline":"78 automated checks passed","lines":["State, storage, access and planner checks passed","One synthetic spoken fixture reached validated board state","Device microphone and clinical reliability remain unvalidated"],"evidence_note":"Implementation lead verified 78 automated checks across state rules, saved-record validation, token access, planner validation and the analysis route, including nested cases. qa/integrated-voice-result.json records one successful synthetic audio fixture through the AssemblyAI managed Voice Agent transcript, server-side AssemblyAI LLM Gateway JSON proposal and deterministic board validation. The correct task, owner, timing, stated condition and pending uncertainty were captured as an unreviewed pending item. AssemblyAI also returned spoken audio asking for review. This was a generated audio fixture, not a person using the browser microphone. Three separate Gateway cases (capture, confirmation and acknowledgment) passed; a rapid request encountered 429 before a spaced retry passed. No clinical benefit, general reliability, false-alert rate or latency benchmark is claimed.","source":"qa/integrated-voice-result.json, qa/gateway-smoke.json and implementation-lead verification, 2026-09-30"}</a:t>
            </a:r>
          </a:p>
          <a:p xmlns:a="http://schemas.openxmlformats.org/drawingml/2006/main">
            <a:r>
              <a:t>No performance or benefit is inferred from a passing state-engine test. Failures, scenario counts and test conditions belong in the submission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scope statement. Prototype demonstrates communication state and evidence, not diagnosis, treatment, discharge authorization, hospital deployment or improved health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4a2b3b669549f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f9081899cbe4b4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2fd84b0ac10479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b0ebd87b0f9488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ca3ef3f16d2417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422776c7d7141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4646AE-9569-4F96-B06E-3010F0859AD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20DB21B-A796-4513-BEB8-08083DED3F2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FF3DE98-2D65-4A71-BA1F-AD7936A3EF5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41C8BD-E61C-4279-8D97-B59030585E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3791415-04C3-410D-B470-48C6B06B927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1F5AA87-662D-4164-9DAA-C6557ED238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4F0650-0783-4268-8DE4-BC5384DC2CC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3AD48B4-6356-4CBB-83B5-A6FD5542744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75E962-D248-48B4-BD33-D0FFCAEC694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A7E237-EBEF-44D6-AF9D-5A74692725D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0cf0a506ae47d4" /><Relationship Type="http://schemas.openxmlformats.org/officeDocument/2006/relationships/slideLayout" Target="/ppt/slideLayouts/slideLayout1.xml" Id="R5dd819a1ce8e43be" /><Relationship Type="http://schemas.openxmlformats.org/officeDocument/2006/relationships/slideLayout" Target="/ppt/slideLayouts/slideLayout2.xml" Id="Re4ea0939508e4bf5" /><Relationship Type="http://schemas.openxmlformats.org/officeDocument/2006/relationships/slideLayout" Target="/ppt/slideLayouts/slideLayout3.xml" Id="Rb728a930225b4dd7" /><Relationship Type="http://schemas.openxmlformats.org/officeDocument/2006/relationships/slideLayout" Target="/ppt/slideLayouts/slideLayout4.xml" Id="Rdf4e702aa179434a" /><Relationship Type="http://schemas.openxmlformats.org/officeDocument/2006/relationships/slideLayout" Target="/ppt/slideLayouts/slideLayout5.xml" Id="R37f5c551df8c44bd" /><Relationship Type="http://schemas.openxmlformats.org/officeDocument/2006/relationships/slideLayout" Target="/ppt/slideLayouts/slideLayout6.xml" Id="R20851832951a4f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d819a1ce8e43be"/>
    <p:sldLayoutId xmlns:r="http://schemas.openxmlformats.org/officeDocument/2006/relationships" id="2147483650" r:id="Re4ea0939508e4bf5"/>
    <p:sldLayoutId xmlns:r="http://schemas.openxmlformats.org/officeDocument/2006/relationships" id="2147483651" r:id="Rb728a930225b4dd7"/>
    <p:sldLayoutId xmlns:r="http://schemas.openxmlformats.org/officeDocument/2006/relationships" id="2147483652" r:id="Rdf4e702aa179434a"/>
    <p:sldLayoutId xmlns:r="http://schemas.openxmlformats.org/officeDocument/2006/relationships" id="2147483653" r:id="R37f5c551df8c44bd"/>
    <p:sldLayoutId xmlns:r="http://schemas.openxmlformats.org/officeDocument/2006/relationships" id="2147483654" r:id="R20851832951a4f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17761bf91234c7b" /><Relationship Type="http://schemas.openxmlformats.org/officeDocument/2006/relationships/image" Target="/ppt/media/image.png" Id="R77132a6933024175" /><Relationship Type="http://schemas.openxmlformats.org/officeDocument/2006/relationships/notesSlide" Target="/ppt/notesSlides/notesSlide1.xml" Id="R42fe045b5c074f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9ddc8f5491b40b5" /><Relationship Type="http://schemas.openxmlformats.org/officeDocument/2006/relationships/notesSlide" Target="/ppt/notesSlides/notesSlide2.xml" Id="Rd24198f849204c1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1182c9d6f274a96" /><Relationship Type="http://schemas.openxmlformats.org/officeDocument/2006/relationships/notesSlide" Target="/ppt/notesSlides/notesSlide3.xml" Id="R14f29ea8cc824c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df22a0a71bc4371" /><Relationship Type="http://schemas.openxmlformats.org/officeDocument/2006/relationships/notesSlide" Target="/ppt/notesSlides/notesSlide4.xml" Id="R91bcee99bf864d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d6ce41bafa14695" /><Relationship Type="http://schemas.openxmlformats.org/officeDocument/2006/relationships/notesSlide" Target="/ppt/notesSlides/notesSlide5.xml" Id="R2d5f4566045a46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19387a1f9584ac7" /><Relationship Type="http://schemas.openxmlformats.org/officeDocument/2006/relationships/notesSlide" Target="/ppt/notesSlides/notesSlide6.xml" Id="R2158c72d9b9045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8053ee03b2846d2" /><Relationship Type="http://schemas.openxmlformats.org/officeDocument/2006/relationships/notesSlide" Target="/ppt/notesSlides/notesSlide7.xml" Id="R8b04db8d2b7e44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15537ca936f4520" /><Relationship Type="http://schemas.openxmlformats.org/officeDocument/2006/relationships/notesSlide" Target="/ppt/notesSlides/notesSlide8.xml" Id="Rafc8f2d07a06434d" /></Relationships>
</file>

<file path=ppt/slides/slide1.xml><?xml version="1.0" encoding="utf-8"?>
<p:sld xmlns:p="http://schemas.openxmlformats.org/presentationml/2006/main">
  <p:cSld>
    <p:bg>
      <p:bgPr>
        <a:solidFill xmlns:a="http://schemas.openxmlformats.org/drawingml/2006/main">
          <a:srgbClr val="073A37"/>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7132a693302417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F590DAC-DBF6-4F53-A1C0-78E39FA45CEF}"/>
              </a:ext>
            </a:extLst>
          </p:cNvPr>
          <p:cNvSpPr>
            <a:spLocks xmlns:a="http://schemas.openxmlformats.org/drawingml/2006/main" noGrp="1"/>
          </p:cNvSpPr>
          <p:nvPr/>
        </p:nvSpPr>
        <p:spPr>
          <a:xfrm xmlns:a="http://schemas.openxmlformats.org/drawingml/2006/main">
            <a:off x="628650" y="5905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9C4BA"/>
                </a:solidFill>
                <a:latin typeface="Arial"/>
                <a:ea typeface="Arial"/>
                <a:cs typeface="Arial"/>
              </a:defRPr>
            </a:pPr>
            <a:r>
              <a:rPr sz="1425" b="1">
                <a:solidFill>
                  <a:srgbClr val="A9C4BA"/>
                </a:solidFill>
                <a:latin typeface="Arial"/>
                <a:ea typeface="Arial"/>
                <a:cs typeface="Arial"/>
              </a:rPr>
              <a:t>ASSEMBLYAI VOICE AGENT HACKATHON</a:t>
            </a:r>
          </a:p>
        </p:txBody>
      </p:sp>
      <p:sp>
        <p:nvSpPr>
          <p:cNvPr id="3" name="">
            <a:extLst xmlns:a="http://schemas.openxmlformats.org/drawingml/2006/main">
              <a:ext uri="{FF2B5EF4-FFF2-40B4-BE49-F238E27FC236}">
                <a16:creationId xmlns:a16="http://schemas.microsoft.com/office/drawing/2014/main" id="{64A708A1-9405-40B6-A7A2-2F8EA6695867}"/>
              </a:ext>
            </a:extLst>
          </p:cNvPr>
          <p:cNvSpPr>
            <a:spLocks xmlns:a="http://schemas.openxmlformats.org/drawingml/2006/main" noGrp="1"/>
          </p:cNvSpPr>
          <p:nvPr/>
        </p:nvSpPr>
        <p:spPr>
          <a:xfrm xmlns:a="http://schemas.openxmlformats.org/drawingml/2006/main">
            <a:off x="571500" y="2047875"/>
            <a:ext cx="7524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CareThread</a:t>
            </a:r>
          </a:p>
        </p:txBody>
      </p:sp>
      <p:sp>
        <p:nvSpPr>
          <p:cNvPr id="4" name="">
            <a:extLst xmlns:a="http://schemas.openxmlformats.org/drawingml/2006/main">
              <a:ext uri="{FF2B5EF4-FFF2-40B4-BE49-F238E27FC236}">
                <a16:creationId xmlns:a16="http://schemas.microsoft.com/office/drawing/2014/main" id="{DDDFCF0E-474E-43C0-8591-343281C732B0}"/>
              </a:ext>
            </a:extLst>
          </p:cNvPr>
          <p:cNvSpPr>
            <a:spLocks xmlns:a="http://schemas.openxmlformats.org/drawingml/2006/main" noGrp="1"/>
          </p:cNvSpPr>
          <p:nvPr/>
        </p:nvSpPr>
        <p:spPr>
          <a:xfrm xmlns:a="http://schemas.openxmlformats.org/drawingml/2006/main">
            <a:off x="609600" y="3238500"/>
            <a:ext cx="6572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FFFFFF"/>
                </a:solidFill>
                <a:latin typeface="Arial"/>
                <a:ea typeface="Arial"/>
                <a:cs typeface="Arial"/>
              </a:defRPr>
            </a:pPr>
            <a:r>
              <a:rPr sz="3225" b="0">
                <a:solidFill>
                  <a:srgbClr val="FFFFFF"/>
                </a:solidFill>
                <a:latin typeface="Arial"/>
                <a:ea typeface="Arial"/>
                <a:cs typeface="Arial"/>
              </a:rPr>
              <a:t>Clinical handoffs with</a:t>
            </a:r>
          </a:p>
          <a:p xmlns:a="http://schemas.openxmlformats.org/drawingml/2006/main">
            <a:pPr>
              <a:defRPr sz="3225" b="0">
                <a:solidFill>
                  <a:srgbClr val="FFFFFF"/>
                </a:solidFill>
                <a:latin typeface="Arial"/>
                <a:ea typeface="Arial"/>
                <a:cs typeface="Arial"/>
              </a:defRPr>
            </a:pPr>
            <a:r>
              <a:rPr sz="3225" b="0">
                <a:solidFill>
                  <a:srgbClr val="FFFFFF"/>
                </a:solidFill>
                <a:latin typeface="Arial"/>
                <a:ea typeface="Arial"/>
                <a:cs typeface="Arial"/>
              </a:rPr>
              <a:t>responsibility intact</a:t>
            </a:r>
          </a:p>
        </p:txBody>
      </p:sp>
      <p:sp>
        <p:nvSpPr>
          <p:cNvPr id="5" name="">
            <a:extLst xmlns:a="http://schemas.openxmlformats.org/drawingml/2006/main">
              <a:ext uri="{FF2B5EF4-FFF2-40B4-BE49-F238E27FC236}">
                <a16:creationId xmlns:a16="http://schemas.microsoft.com/office/drawing/2014/main" id="{E7F0061E-84E5-4573-9CBA-ACAAA0428B59}"/>
              </a:ext>
            </a:extLst>
          </p:cNvPr>
          <p:cNvSpPr>
            <a:spLocks xmlns:a="http://schemas.openxmlformats.org/drawingml/2006/main" noGrp="1"/>
          </p:cNvSpPr>
          <p:nvPr/>
        </p:nvSpPr>
        <p:spPr>
          <a:xfrm xmlns:a="http://schemas.openxmlformats.org/drawingml/2006/main">
            <a:off x="628650" y="5543550"/>
            <a:ext cx="647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7FF78"/>
                </a:solidFill>
                <a:latin typeface="Arial"/>
                <a:ea typeface="Arial"/>
                <a:cs typeface="Arial"/>
              </a:defRPr>
            </a:pPr>
            <a:r>
              <a:rPr sz="1650" b="0">
                <a:solidFill>
                  <a:srgbClr val="D7FF78"/>
                </a:solidFill>
                <a:latin typeface="Arial"/>
                <a:ea typeface="Arial"/>
                <a:cs typeface="Arial"/>
              </a:rPr>
              <a:t>Clinical communication simulation</a:t>
            </a:r>
          </a:p>
          <a:p xmlns:a="http://schemas.openxmlformats.org/drawingml/2006/main">
            <a:pPr>
              <a:defRPr sz="1650" b="0">
                <a:solidFill>
                  <a:srgbClr val="D7FF78"/>
                </a:solidFill>
                <a:latin typeface="Arial"/>
                <a:ea typeface="Arial"/>
                <a:cs typeface="Arial"/>
              </a:defRPr>
            </a:pPr>
            <a:r>
              <a:rPr sz="1650" b="0">
                <a:solidFill>
                  <a:srgbClr val="D7FF78"/>
                </a:solidFill>
                <a:latin typeface="Arial"/>
                <a:ea typeface="Arial"/>
                <a:cs typeface="Arial"/>
              </a:rPr>
              <a:t>Synthetic data only</a:t>
            </a:r>
          </a:p>
        </p:txBody>
      </p:sp>
    </p:spTree>
    <p:extLst>
      <p:ext uri="{BB962C8B-B14F-4D97-AF65-F5344CB8AC3E}">
        <p14:creationId xmlns:p14="http://schemas.microsoft.com/office/powerpoint/2010/main" val="18724093"/>
      </p:ext>
    </p:extLst>
  </p:cSld>
</p:sld>
</file>

<file path=ppt/slides/slide2.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E44CADF-5EA0-4604-8FCD-4B72B98B0DDC}"/>
              </a:ext>
            </a:extLst>
          </p:cNvPr>
          <p:cNvSpPr>
            <a:spLocks xmlns:a="http://schemas.openxmlformats.org/drawingml/2006/main" noGrp="1"/>
          </p:cNvSpPr>
          <p:nvPr/>
        </p:nvSpPr>
        <p:spPr>
          <a:xfrm xmlns:a="http://schemas.openxmlformats.org/drawingml/2006/main">
            <a:off x="628650" y="361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8716B"/>
                </a:solidFill>
                <a:latin typeface="Arial"/>
                <a:ea typeface="Arial"/>
                <a:cs typeface="Arial"/>
              </a:defRPr>
            </a:pPr>
            <a:r>
              <a:rPr sz="1350" b="1">
                <a:solidFill>
                  <a:srgbClr val="58716B"/>
                </a:solidFill>
                <a:latin typeface="Arial"/>
                <a:ea typeface="Arial"/>
                <a:cs typeface="Arial"/>
              </a:rPr>
              <a:t>CARETHREAD</a:t>
            </a:r>
          </a:p>
        </p:txBody>
      </p:sp>
      <p:sp>
        <p:nvSpPr>
          <p:cNvPr id="2" name="">
            <a:extLst xmlns:a="http://schemas.openxmlformats.org/drawingml/2006/main">
              <a:ext uri="{FF2B5EF4-FFF2-40B4-BE49-F238E27FC236}">
                <a16:creationId xmlns:a16="http://schemas.microsoft.com/office/drawing/2014/main" id="{ABE0FCA6-F430-4003-943F-FA010C759EC1}"/>
              </a:ext>
            </a:extLst>
          </p:cNvPr>
          <p:cNvSpPr>
            <a:spLocks xmlns:a="http://schemas.openxmlformats.org/drawingml/2006/main" noGrp="1"/>
          </p:cNvSpPr>
          <p:nvPr/>
        </p:nvSpPr>
        <p:spPr>
          <a:xfrm xmlns:a="http://schemas.openxmlformats.org/drawingml/2006/main">
            <a:off x="628650" y="1000125"/>
            <a:ext cx="10934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D39"/>
                </a:solidFill>
                <a:latin typeface="Arial"/>
                <a:ea typeface="Arial"/>
                <a:cs typeface="Arial"/>
              </a:defRPr>
            </a:pPr>
            <a:r>
              <a:rPr sz="3900" b="1">
                <a:solidFill>
                  <a:srgbClr val="123D39"/>
                </a:solidFill>
                <a:latin typeface="Arial"/>
                <a:ea typeface="Arial"/>
                <a:cs typeface="Arial"/>
              </a:rPr>
              <a:t>Uncertainty can disappear in a handoff</a:t>
            </a:r>
          </a:p>
        </p:txBody>
      </p:sp>
      <p:sp>
        <p:nvSpPr>
          <p:cNvPr id="3" name="">
            <a:extLst xmlns:a="http://schemas.openxmlformats.org/drawingml/2006/main">
              <a:ext uri="{FF2B5EF4-FFF2-40B4-BE49-F238E27FC236}">
                <a16:creationId xmlns:a16="http://schemas.microsoft.com/office/drawing/2014/main" id="{1D4254F7-04EF-4C6D-A6FC-2E3234D34F89}"/>
              </a:ext>
            </a:extLst>
          </p:cNvPr>
          <p:cNvSpPr>
            <a:spLocks xmlns:a="http://schemas.openxmlformats.org/drawingml/2006/main" noGrp="1"/>
          </p:cNvSpPr>
          <p:nvPr/>
        </p:nvSpPr>
        <p:spPr>
          <a:xfrm xmlns:a="http://schemas.openxmlformats.org/drawingml/2006/main">
            <a:off x="10620375" y="6210300"/>
            <a:ext cx="1000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716B"/>
                </a:solidFill>
                <a:latin typeface="Arial"/>
                <a:ea typeface="Arial"/>
                <a:cs typeface="Arial"/>
              </a:defRPr>
            </a:pPr>
            <a:r>
              <a:rPr sz="1200" b="0">
                <a:solidFill>
                  <a:srgbClr val="58716B"/>
                </a:solidFill>
                <a:latin typeface="Arial"/>
                <a:ea typeface="Arial"/>
                <a:cs typeface="Arial"/>
              </a:rPr>
              <a:t>02 / 08</a:t>
            </a:r>
          </a:p>
        </p:txBody>
      </p:sp>
      <p:sp>
        <p:nvSpPr>
          <p:cNvPr id="4" name="">
            <a:extLst xmlns:a="http://schemas.openxmlformats.org/drawingml/2006/main">
              <a:ext uri="{FF2B5EF4-FFF2-40B4-BE49-F238E27FC236}">
                <a16:creationId xmlns:a16="http://schemas.microsoft.com/office/drawing/2014/main" id="{5D458A7B-0A3B-4EE0-8EE1-A11B61C67CBC}"/>
              </a:ext>
            </a:extLst>
          </p:cNvPr>
          <p:cNvSpPr>
            <a:spLocks xmlns:a="http://schemas.openxmlformats.org/drawingml/2006/main" noGrp="1"/>
          </p:cNvSpPr>
          <p:nvPr/>
        </p:nvSpPr>
        <p:spPr>
          <a:xfrm xmlns:a="http://schemas.openxmlformats.org/drawingml/2006/main">
            <a:off x="628650" y="240030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58716B"/>
                </a:solidFill>
                <a:latin typeface="Arial"/>
                <a:ea typeface="Arial"/>
                <a:cs typeface="Arial"/>
              </a:defRPr>
            </a:pPr>
            <a:r>
              <a:rPr sz="1500" b="1">
                <a:solidFill>
                  <a:srgbClr val="58716B"/>
                </a:solidFill>
                <a:latin typeface="Arial"/>
                <a:ea typeface="Arial"/>
                <a:cs typeface="Arial"/>
              </a:rPr>
              <a:t>SENDER</a:t>
            </a:r>
          </a:p>
        </p:txBody>
      </p:sp>
      <p:sp>
        <p:nvSpPr>
          <p:cNvPr id="5" name="">
            <a:extLst xmlns:a="http://schemas.openxmlformats.org/drawingml/2006/main">
              <a:ext uri="{FF2B5EF4-FFF2-40B4-BE49-F238E27FC236}">
                <a16:creationId xmlns:a16="http://schemas.microsoft.com/office/drawing/2014/main" id="{2C6EFC44-01F0-4D13-9F05-1904E03944F1}"/>
              </a:ext>
            </a:extLst>
          </p:cNvPr>
          <p:cNvSpPr>
            <a:spLocks xmlns:a="http://schemas.openxmlformats.org/drawingml/2006/main" noGrp="1"/>
          </p:cNvSpPr>
          <p:nvPr/>
        </p:nvSpPr>
        <p:spPr>
          <a:xfrm xmlns:a="http://schemas.openxmlformats.org/drawingml/2006/main">
            <a:off x="590550" y="2971800"/>
            <a:ext cx="518160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23D39"/>
                </a:solidFill>
                <a:latin typeface="Arial"/>
                <a:ea typeface="Arial"/>
                <a:cs typeface="Arial"/>
              </a:defRPr>
            </a:pPr>
            <a:r>
              <a:rPr sz="2775" b="0">
                <a:solidFill>
                  <a:srgbClr val="123D39"/>
                </a:solidFill>
                <a:latin typeface="Arial"/>
                <a:ea typeface="Arial"/>
                <a:cs typeface="Arial"/>
              </a:rPr>
              <a:t>“The scan result is pending.</a:t>
            </a:r>
          </a:p>
          <a:p xmlns:a="http://schemas.openxmlformats.org/drawingml/2006/main">
            <a:pPr>
              <a:defRPr sz="2775" b="0">
                <a:solidFill>
                  <a:srgbClr val="123D39"/>
                </a:solidFill>
                <a:latin typeface="Arial"/>
                <a:ea typeface="Arial"/>
                <a:cs typeface="Arial"/>
              </a:defRPr>
            </a:pPr>
            <a:r>
              <a:rPr sz="2775" b="0">
                <a:solidFill>
                  <a:srgbClr val="123D39"/>
                </a:solidFill>
                <a:latin typeface="Arial"/>
                <a:ea typeface="Arial"/>
                <a:cs typeface="Arial"/>
              </a:rPr>
              <a:t>Discharge is waiting</a:t>
            </a:r>
          </a:p>
          <a:p xmlns:a="http://schemas.openxmlformats.org/drawingml/2006/main">
            <a:pPr>
              <a:defRPr sz="2775" b="0">
                <a:solidFill>
                  <a:srgbClr val="123D39"/>
                </a:solidFill>
                <a:latin typeface="Arial"/>
                <a:ea typeface="Arial"/>
                <a:cs typeface="Arial"/>
              </a:defRPr>
            </a:pPr>
            <a:r>
              <a:rPr sz="2775" b="0">
                <a:solidFill>
                  <a:srgbClr val="123D39"/>
                </a:solidFill>
                <a:latin typeface="Arial"/>
                <a:ea typeface="Arial"/>
                <a:cs typeface="Arial"/>
              </a:rPr>
              <a:t>for the review.”</a:t>
            </a:r>
          </a:p>
        </p:txBody>
      </p:sp>
      <p:sp>
        <p:nvSpPr>
          <p:cNvPr id="6" name="">
            <a:extLst xmlns:a="http://schemas.openxmlformats.org/drawingml/2006/main">
              <a:ext uri="{FF2B5EF4-FFF2-40B4-BE49-F238E27FC236}">
                <a16:creationId xmlns:a16="http://schemas.microsoft.com/office/drawing/2014/main" id="{3F2C2CFA-9DBE-458C-92EA-AAC76A3A6FA3}"/>
              </a:ext>
            </a:extLst>
          </p:cNvPr>
          <p:cNvSpPr>
            <a:spLocks xmlns:a="http://schemas.openxmlformats.org/drawingml/2006/main" noGrp="1"/>
          </p:cNvSpPr>
          <p:nvPr/>
        </p:nvSpPr>
        <p:spPr>
          <a:xfrm xmlns:a="http://schemas.openxmlformats.org/drawingml/2006/main">
            <a:off x="6419850" y="240030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58716B"/>
                </a:solidFill>
                <a:latin typeface="Arial"/>
                <a:ea typeface="Arial"/>
                <a:cs typeface="Arial"/>
              </a:defRPr>
            </a:pPr>
            <a:r>
              <a:rPr sz="1500" b="1">
                <a:solidFill>
                  <a:srgbClr val="58716B"/>
                </a:solidFill>
                <a:latin typeface="Arial"/>
                <a:ea typeface="Arial"/>
                <a:cs typeface="Arial"/>
              </a:rPr>
              <a:t>RECEIVER</a:t>
            </a:r>
          </a:p>
        </p:txBody>
      </p:sp>
      <p:sp>
        <p:nvSpPr>
          <p:cNvPr id="7" name="">
            <a:extLst xmlns:a="http://schemas.openxmlformats.org/drawingml/2006/main">
              <a:ext uri="{FF2B5EF4-FFF2-40B4-BE49-F238E27FC236}">
                <a16:creationId xmlns:a16="http://schemas.microsoft.com/office/drawing/2014/main" id="{3FEE42BC-3BF6-4CAB-AE58-D474D630CB65}"/>
              </a:ext>
            </a:extLst>
          </p:cNvPr>
          <p:cNvSpPr>
            <a:spLocks xmlns:a="http://schemas.openxmlformats.org/drawingml/2006/main" noGrp="1"/>
          </p:cNvSpPr>
          <p:nvPr/>
        </p:nvSpPr>
        <p:spPr>
          <a:xfrm xmlns:a="http://schemas.openxmlformats.org/drawingml/2006/main">
            <a:off x="6381750" y="2971800"/>
            <a:ext cx="5191125"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23D39"/>
                </a:solidFill>
                <a:latin typeface="Arial"/>
                <a:ea typeface="Arial"/>
                <a:cs typeface="Arial"/>
              </a:defRPr>
            </a:pPr>
            <a:r>
              <a:rPr sz="2775" b="0">
                <a:solidFill>
                  <a:srgbClr val="123D39"/>
                </a:solidFill>
                <a:latin typeface="Arial"/>
                <a:ea typeface="Arial"/>
                <a:cs typeface="Arial"/>
              </a:rPr>
              <a:t>“The scan was clear.</a:t>
            </a:r>
          </a:p>
          <a:p xmlns:a="http://schemas.openxmlformats.org/drawingml/2006/main">
            <a:pPr>
              <a:defRPr sz="2775" b="0">
                <a:solidFill>
                  <a:srgbClr val="123D39"/>
                </a:solidFill>
                <a:latin typeface="Arial"/>
                <a:ea typeface="Arial"/>
                <a:cs typeface="Arial"/>
              </a:defRPr>
            </a:pPr>
            <a:r>
              <a:rPr sz="2775" b="0">
                <a:solidFill>
                  <a:srgbClr val="123D39"/>
                </a:solidFill>
                <a:latin typeface="Arial"/>
                <a:ea typeface="Arial"/>
                <a:cs typeface="Arial"/>
              </a:rPr>
              <a:t>The patient is ready</a:t>
            </a:r>
          </a:p>
          <a:p xmlns:a="http://schemas.openxmlformats.org/drawingml/2006/main">
            <a:pPr>
              <a:defRPr sz="2775" b="0">
                <a:solidFill>
                  <a:srgbClr val="123D39"/>
                </a:solidFill>
                <a:latin typeface="Arial"/>
                <a:ea typeface="Arial"/>
                <a:cs typeface="Arial"/>
              </a:defRPr>
            </a:pPr>
            <a:r>
              <a:rPr sz="2775" b="0">
                <a:solidFill>
                  <a:srgbClr val="123D39"/>
                </a:solidFill>
                <a:latin typeface="Arial"/>
                <a:ea typeface="Arial"/>
                <a:cs typeface="Arial"/>
              </a:rPr>
              <a:t>for discharge.”</a:t>
            </a:r>
          </a:p>
        </p:txBody>
      </p:sp>
      <p:sp>
        <p:nvSpPr>
          <p:cNvPr id="8" name="">
            <a:extLst xmlns:a="http://schemas.openxmlformats.org/drawingml/2006/main">
              <a:ext uri="{FF2B5EF4-FFF2-40B4-BE49-F238E27FC236}">
                <a16:creationId xmlns:a16="http://schemas.microsoft.com/office/drawing/2014/main" id="{84942DC3-C6DF-44F5-AD07-7F28B967A706}"/>
              </a:ext>
            </a:extLst>
          </p:cNvPr>
          <p:cNvSpPr>
            <a:spLocks xmlns:a="http://schemas.openxmlformats.org/drawingml/2006/main" noGrp="1"/>
          </p:cNvSpPr>
          <p:nvPr/>
        </p:nvSpPr>
        <p:spPr>
          <a:xfrm xmlns:a="http://schemas.openxmlformats.org/drawingml/2006/main">
            <a:off x="628650" y="5257800"/>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73A37"/>
                </a:solidFill>
                <a:latin typeface="Arial"/>
                <a:ea typeface="Arial"/>
                <a:cs typeface="Arial"/>
              </a:defRPr>
            </a:pPr>
            <a:r>
              <a:rPr sz="2175" b="1">
                <a:solidFill>
                  <a:srgbClr val="073A37"/>
                </a:solidFill>
                <a:latin typeface="Arial"/>
                <a:ea typeface="Arial"/>
                <a:cs typeface="Arial"/>
              </a:rPr>
              <a:t>A changed statement needs reconciliation.</a:t>
            </a:r>
          </a:p>
        </p:txBody>
      </p:sp>
      <p:sp>
        <p:nvSpPr>
          <p:cNvPr id="9" name="">
            <a:extLst xmlns:a="http://schemas.openxmlformats.org/drawingml/2006/main">
              <a:ext uri="{FF2B5EF4-FFF2-40B4-BE49-F238E27FC236}">
                <a16:creationId xmlns:a16="http://schemas.microsoft.com/office/drawing/2014/main" id="{05A57AC6-0C31-4B4D-9EEA-6A5E626E5838}"/>
              </a:ext>
            </a:extLst>
          </p:cNvPr>
          <p:cNvSpPr>
            <a:spLocks xmlns:a="http://schemas.openxmlformats.org/drawingml/2006/main" noGrp="1"/>
          </p:cNvSpPr>
          <p:nvPr/>
        </p:nvSpPr>
        <p:spPr>
          <a:xfrm xmlns:a="http://schemas.openxmlformats.org/drawingml/2006/main">
            <a:off x="628650" y="5962650"/>
            <a:ext cx="9620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8716B"/>
                </a:solidFill>
                <a:latin typeface="Arial"/>
                <a:ea typeface="Arial"/>
                <a:cs typeface="Arial"/>
              </a:defRPr>
            </a:pPr>
            <a:r>
              <a:rPr sz="1275" b="0">
                <a:solidFill>
                  <a:srgbClr val="58716B"/>
                </a:solidFill>
                <a:latin typeface="Arial"/>
                <a:ea typeface="Arial"/>
                <a:cs typeface="Arial"/>
              </a:rPr>
              <a:t>Fictional example. Clinicians determine what is correct. CareThread asks for clarification.</a:t>
            </a:r>
          </a:p>
        </p:txBody>
      </p:sp>
    </p:spTree>
    <p:extLst>
      <p:ext uri="{BB962C8B-B14F-4D97-AF65-F5344CB8AC3E}">
        <p14:creationId xmlns:p14="http://schemas.microsoft.com/office/powerpoint/2010/main" val="1441194335"/>
      </p:ext>
    </p:extLst>
  </p:cSld>
</p:sld>
</file>

<file path=ppt/slides/slide3.xml><?xml version="1.0" encoding="utf-8"?>
<p:sld xmlns:p="http://schemas.openxmlformats.org/presentationml/2006/main">
  <p:cSld>
    <p:bg>
      <p:bgPr>
        <a:solidFill xmlns:a="http://schemas.openxmlformats.org/drawingml/2006/main">
          <a:srgbClr val="073A3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BE5413A-74CE-4A5F-B29C-327B56E8A447}"/>
              </a:ext>
            </a:extLst>
          </p:cNvPr>
          <p:cNvSpPr>
            <a:spLocks xmlns:a="http://schemas.openxmlformats.org/drawingml/2006/main" noGrp="1"/>
          </p:cNvSpPr>
          <p:nvPr/>
        </p:nvSpPr>
        <p:spPr>
          <a:xfrm xmlns:a="http://schemas.openxmlformats.org/drawingml/2006/main">
            <a:off x="628650" y="361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A9C4BA"/>
                </a:solidFill>
                <a:latin typeface="Arial"/>
                <a:ea typeface="Arial"/>
                <a:cs typeface="Arial"/>
              </a:defRPr>
            </a:pPr>
            <a:r>
              <a:rPr sz="1350" b="1">
                <a:solidFill>
                  <a:srgbClr val="A9C4BA"/>
                </a:solidFill>
                <a:latin typeface="Arial"/>
                <a:ea typeface="Arial"/>
                <a:cs typeface="Arial"/>
              </a:rPr>
              <a:t>CARETHREAD</a:t>
            </a:r>
          </a:p>
        </p:txBody>
      </p:sp>
      <p:sp>
        <p:nvSpPr>
          <p:cNvPr id="2" name="">
            <a:extLst xmlns:a="http://schemas.openxmlformats.org/drawingml/2006/main">
              <a:ext uri="{FF2B5EF4-FFF2-40B4-BE49-F238E27FC236}">
                <a16:creationId xmlns:a16="http://schemas.microsoft.com/office/drawing/2014/main" id="{A18C1216-2BB4-4677-94AC-CFB5FF8066BA}"/>
              </a:ext>
            </a:extLst>
          </p:cNvPr>
          <p:cNvSpPr>
            <a:spLocks xmlns:a="http://schemas.openxmlformats.org/drawingml/2006/main" noGrp="1"/>
          </p:cNvSpPr>
          <p:nvPr/>
        </p:nvSpPr>
        <p:spPr>
          <a:xfrm xmlns:a="http://schemas.openxmlformats.org/drawingml/2006/main">
            <a:off x="628650" y="1000125"/>
            <a:ext cx="10934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The pending work stays explicit</a:t>
            </a:r>
          </a:p>
        </p:txBody>
      </p:sp>
      <p:sp>
        <p:nvSpPr>
          <p:cNvPr id="3" name="">
            <a:extLst xmlns:a="http://schemas.openxmlformats.org/drawingml/2006/main">
              <a:ext uri="{FF2B5EF4-FFF2-40B4-BE49-F238E27FC236}">
                <a16:creationId xmlns:a16="http://schemas.microsoft.com/office/drawing/2014/main" id="{F8D3C6CB-61F9-4324-9F2E-47764FF7711C}"/>
              </a:ext>
            </a:extLst>
          </p:cNvPr>
          <p:cNvSpPr>
            <a:spLocks xmlns:a="http://schemas.openxmlformats.org/drawingml/2006/main" noGrp="1"/>
          </p:cNvSpPr>
          <p:nvPr/>
        </p:nvSpPr>
        <p:spPr>
          <a:xfrm xmlns:a="http://schemas.openxmlformats.org/drawingml/2006/main">
            <a:off x="10620375" y="6210300"/>
            <a:ext cx="1000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9C4BA"/>
                </a:solidFill>
                <a:latin typeface="Arial"/>
                <a:ea typeface="Arial"/>
                <a:cs typeface="Arial"/>
              </a:defRPr>
            </a:pPr>
            <a:r>
              <a:rPr sz="1200" b="0">
                <a:solidFill>
                  <a:srgbClr val="A9C4BA"/>
                </a:solidFill>
                <a:latin typeface="Arial"/>
                <a:ea typeface="Arial"/>
                <a:cs typeface="Arial"/>
              </a:rPr>
              <a:t>03 / 08</a:t>
            </a:r>
          </a:p>
        </p:txBody>
      </p:sp>
      <p:sp>
        <p:nvSpPr>
          <p:cNvPr id="4" name="">
            <a:extLst xmlns:a="http://schemas.openxmlformats.org/drawingml/2006/main">
              <a:ext uri="{FF2B5EF4-FFF2-40B4-BE49-F238E27FC236}">
                <a16:creationId xmlns:a16="http://schemas.microsoft.com/office/drawing/2014/main" id="{329154B5-62D3-400C-8897-B499A00BA21B}"/>
              </a:ext>
            </a:extLst>
          </p:cNvPr>
          <p:cNvSpPr>
            <a:spLocks xmlns:a="http://schemas.openxmlformats.org/drawingml/2006/main" noGrp="1"/>
          </p:cNvSpPr>
          <p:nvPr/>
        </p:nvSpPr>
        <p:spPr>
          <a:xfrm xmlns:a="http://schemas.openxmlformats.org/drawingml/2006/main">
            <a:off x="628650" y="2438400"/>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9C4BA"/>
                </a:solidFill>
                <a:latin typeface="Arial"/>
                <a:ea typeface="Arial"/>
                <a:cs typeface="Arial"/>
              </a:defRPr>
            </a:pPr>
            <a:r>
              <a:rPr sz="1800" b="0">
                <a:solidFill>
                  <a:srgbClr val="A9C4BA"/>
                </a:solidFill>
                <a:latin typeface="Arial"/>
                <a:ea typeface="Arial"/>
                <a:cs typeface="Arial"/>
              </a:rPr>
              <a:t>Task</a:t>
            </a:r>
          </a:p>
        </p:txBody>
      </p:sp>
      <p:sp>
        <p:nvSpPr>
          <p:cNvPr id="5" name="">
            <a:extLst xmlns:a="http://schemas.openxmlformats.org/drawingml/2006/main">
              <a:ext uri="{FF2B5EF4-FFF2-40B4-BE49-F238E27FC236}">
                <a16:creationId xmlns:a16="http://schemas.microsoft.com/office/drawing/2014/main" id="{048EC8B8-A853-4583-BCD6-66EB16C0302D}"/>
              </a:ext>
            </a:extLst>
          </p:cNvPr>
          <p:cNvSpPr>
            <a:spLocks xmlns:a="http://schemas.openxmlformats.org/drawingml/2006/main" noGrp="1"/>
          </p:cNvSpPr>
          <p:nvPr/>
        </p:nvSpPr>
        <p:spPr>
          <a:xfrm xmlns:a="http://schemas.openxmlformats.org/drawingml/2006/main">
            <a:off x="3143250" y="2438400"/>
            <a:ext cx="838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Review the pending scan result</a:t>
            </a:r>
          </a:p>
        </p:txBody>
      </p:sp>
      <p:sp>
        <p:nvSpPr>
          <p:cNvPr id="6" name="">
            <a:extLst xmlns:a="http://schemas.openxmlformats.org/drawingml/2006/main">
              <a:ext uri="{FF2B5EF4-FFF2-40B4-BE49-F238E27FC236}">
                <a16:creationId xmlns:a16="http://schemas.microsoft.com/office/drawing/2014/main" id="{C10D61D8-2572-40B5-BF92-FA0A1C5FB5D5}"/>
              </a:ext>
            </a:extLst>
          </p:cNvPr>
          <p:cNvSpPr>
            <a:spLocks xmlns:a="http://schemas.openxmlformats.org/drawingml/2006/main" noGrp="1"/>
          </p:cNvSpPr>
          <p:nvPr/>
        </p:nvSpPr>
        <p:spPr>
          <a:xfrm xmlns:a="http://schemas.openxmlformats.org/drawingml/2006/main">
            <a:off x="628650" y="3019425"/>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9C4BA"/>
                </a:solidFill>
                <a:latin typeface="Arial"/>
                <a:ea typeface="Arial"/>
                <a:cs typeface="Arial"/>
              </a:defRPr>
            </a:pPr>
            <a:r>
              <a:rPr sz="1800" b="0">
                <a:solidFill>
                  <a:srgbClr val="A9C4BA"/>
                </a:solidFill>
                <a:latin typeface="Arial"/>
                <a:ea typeface="Arial"/>
                <a:cs typeface="Arial"/>
              </a:rPr>
              <a:t>Owner</a:t>
            </a:r>
          </a:p>
        </p:txBody>
      </p:sp>
      <p:sp>
        <p:nvSpPr>
          <p:cNvPr id="7" name="">
            <a:extLst xmlns:a="http://schemas.openxmlformats.org/drawingml/2006/main">
              <a:ext uri="{FF2B5EF4-FFF2-40B4-BE49-F238E27FC236}">
                <a16:creationId xmlns:a16="http://schemas.microsoft.com/office/drawing/2014/main" id="{8BDC22F5-1136-4F50-B64C-1EE8A6F3E9B6}"/>
              </a:ext>
            </a:extLst>
          </p:cNvPr>
          <p:cNvSpPr>
            <a:spLocks xmlns:a="http://schemas.openxmlformats.org/drawingml/2006/main" noGrp="1"/>
          </p:cNvSpPr>
          <p:nvPr/>
        </p:nvSpPr>
        <p:spPr>
          <a:xfrm xmlns:a="http://schemas.openxmlformats.org/drawingml/2006/main">
            <a:off x="3143250" y="3019425"/>
            <a:ext cx="838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Dr. Lee</a:t>
            </a:r>
          </a:p>
        </p:txBody>
      </p:sp>
      <p:sp>
        <p:nvSpPr>
          <p:cNvPr id="8" name="">
            <a:extLst xmlns:a="http://schemas.openxmlformats.org/drawingml/2006/main">
              <a:ext uri="{FF2B5EF4-FFF2-40B4-BE49-F238E27FC236}">
                <a16:creationId xmlns:a16="http://schemas.microsoft.com/office/drawing/2014/main" id="{76D729A3-7CB0-443B-A56D-4F5275181DAB}"/>
              </a:ext>
            </a:extLst>
          </p:cNvPr>
          <p:cNvSpPr>
            <a:spLocks xmlns:a="http://schemas.openxmlformats.org/drawingml/2006/main" noGrp="1"/>
          </p:cNvSpPr>
          <p:nvPr/>
        </p:nvSpPr>
        <p:spPr>
          <a:xfrm xmlns:a="http://schemas.openxmlformats.org/drawingml/2006/main">
            <a:off x="628650" y="3600450"/>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9C4BA"/>
                </a:solidFill>
                <a:latin typeface="Arial"/>
                <a:ea typeface="Arial"/>
                <a:cs typeface="Arial"/>
              </a:defRPr>
            </a:pPr>
            <a:r>
              <a:rPr sz="1800" b="0">
                <a:solidFill>
                  <a:srgbClr val="A9C4BA"/>
                </a:solidFill>
                <a:latin typeface="Arial"/>
                <a:ea typeface="Arial"/>
                <a:cs typeface="Arial"/>
              </a:rPr>
              <a:t>Due</a:t>
            </a:r>
          </a:p>
        </p:txBody>
      </p:sp>
      <p:sp>
        <p:nvSpPr>
          <p:cNvPr id="9" name="">
            <a:extLst xmlns:a="http://schemas.openxmlformats.org/drawingml/2006/main">
              <a:ext uri="{FF2B5EF4-FFF2-40B4-BE49-F238E27FC236}">
                <a16:creationId xmlns:a16="http://schemas.microsoft.com/office/drawing/2014/main" id="{A7BA2944-809A-4441-8408-7C144AFB6195}"/>
              </a:ext>
            </a:extLst>
          </p:cNvPr>
          <p:cNvSpPr>
            <a:spLocks xmlns:a="http://schemas.openxmlformats.org/drawingml/2006/main" noGrp="1"/>
          </p:cNvSpPr>
          <p:nvPr/>
        </p:nvSpPr>
        <p:spPr>
          <a:xfrm xmlns:a="http://schemas.openxmlformats.org/drawingml/2006/main">
            <a:off x="3143250" y="3600450"/>
            <a:ext cx="838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By 3:00 p.m.</a:t>
            </a:r>
          </a:p>
        </p:txBody>
      </p:sp>
      <p:sp>
        <p:nvSpPr>
          <p:cNvPr id="10" name="">
            <a:extLst xmlns:a="http://schemas.openxmlformats.org/drawingml/2006/main">
              <a:ext uri="{FF2B5EF4-FFF2-40B4-BE49-F238E27FC236}">
                <a16:creationId xmlns:a16="http://schemas.microsoft.com/office/drawing/2014/main" id="{DA5192C5-BCED-412E-B2B3-8941DD99CB48}"/>
              </a:ext>
            </a:extLst>
          </p:cNvPr>
          <p:cNvSpPr>
            <a:spLocks xmlns:a="http://schemas.openxmlformats.org/drawingml/2006/main" noGrp="1"/>
          </p:cNvSpPr>
          <p:nvPr/>
        </p:nvSpPr>
        <p:spPr>
          <a:xfrm xmlns:a="http://schemas.openxmlformats.org/drawingml/2006/main">
            <a:off x="628650" y="4181475"/>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9C4BA"/>
                </a:solidFill>
                <a:latin typeface="Arial"/>
                <a:ea typeface="Arial"/>
                <a:cs typeface="Arial"/>
              </a:defRPr>
            </a:pPr>
            <a:r>
              <a:rPr sz="1800" b="0">
                <a:solidFill>
                  <a:srgbClr val="A9C4BA"/>
                </a:solidFill>
                <a:latin typeface="Arial"/>
                <a:ea typeface="Arial"/>
                <a:cs typeface="Arial"/>
              </a:rPr>
              <a:t>Condition</a:t>
            </a:r>
          </a:p>
        </p:txBody>
      </p:sp>
      <p:sp>
        <p:nvSpPr>
          <p:cNvPr id="11" name="">
            <a:extLst xmlns:a="http://schemas.openxmlformats.org/drawingml/2006/main">
              <a:ext uri="{FF2B5EF4-FFF2-40B4-BE49-F238E27FC236}">
                <a16:creationId xmlns:a16="http://schemas.microsoft.com/office/drawing/2014/main" id="{2E3F8AB3-F980-4BD9-8B2D-1851C35CFFFF}"/>
              </a:ext>
            </a:extLst>
          </p:cNvPr>
          <p:cNvSpPr>
            <a:spLocks xmlns:a="http://schemas.openxmlformats.org/drawingml/2006/main" noGrp="1"/>
          </p:cNvSpPr>
          <p:nvPr/>
        </p:nvSpPr>
        <p:spPr>
          <a:xfrm xmlns:a="http://schemas.openxmlformats.org/drawingml/2006/main">
            <a:off x="3143250" y="4181475"/>
            <a:ext cx="838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Discharge awaits the stated review</a:t>
            </a:r>
          </a:p>
        </p:txBody>
      </p:sp>
      <p:sp>
        <p:nvSpPr>
          <p:cNvPr id="12" name="">
            <a:extLst xmlns:a="http://schemas.openxmlformats.org/drawingml/2006/main">
              <a:ext uri="{FF2B5EF4-FFF2-40B4-BE49-F238E27FC236}">
                <a16:creationId xmlns:a16="http://schemas.microsoft.com/office/drawing/2014/main" id="{6ECE486F-8F2D-4CD0-B9C8-D08437B46A16}"/>
              </a:ext>
            </a:extLst>
          </p:cNvPr>
          <p:cNvSpPr>
            <a:spLocks xmlns:a="http://schemas.openxmlformats.org/drawingml/2006/main" noGrp="1"/>
          </p:cNvSpPr>
          <p:nvPr/>
        </p:nvSpPr>
        <p:spPr>
          <a:xfrm xmlns:a="http://schemas.openxmlformats.org/drawingml/2006/main">
            <a:off x="628650" y="4762500"/>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9C4BA"/>
                </a:solidFill>
                <a:latin typeface="Arial"/>
                <a:ea typeface="Arial"/>
                <a:cs typeface="Arial"/>
              </a:defRPr>
            </a:pPr>
            <a:r>
              <a:rPr sz="1800" b="0">
                <a:solidFill>
                  <a:srgbClr val="A9C4BA"/>
                </a:solidFill>
                <a:latin typeface="Arial"/>
                <a:ea typeface="Arial"/>
                <a:cs typeface="Arial"/>
              </a:rPr>
              <a:t>Uncertainty</a:t>
            </a:r>
          </a:p>
        </p:txBody>
      </p:sp>
      <p:sp>
        <p:nvSpPr>
          <p:cNvPr id="13" name="">
            <a:extLst xmlns:a="http://schemas.openxmlformats.org/drawingml/2006/main">
              <a:ext uri="{FF2B5EF4-FFF2-40B4-BE49-F238E27FC236}">
                <a16:creationId xmlns:a16="http://schemas.microsoft.com/office/drawing/2014/main" id="{E9ED72B2-BE7F-4281-B408-09A8896D8461}"/>
              </a:ext>
            </a:extLst>
          </p:cNvPr>
          <p:cNvSpPr>
            <a:spLocks xmlns:a="http://schemas.openxmlformats.org/drawingml/2006/main" noGrp="1"/>
          </p:cNvSpPr>
          <p:nvPr/>
        </p:nvSpPr>
        <p:spPr>
          <a:xfrm xmlns:a="http://schemas.openxmlformats.org/drawingml/2006/main">
            <a:off x="3143250" y="4762500"/>
            <a:ext cx="838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D7FF78"/>
                </a:solidFill>
                <a:latin typeface="Arial"/>
                <a:ea typeface="Arial"/>
                <a:cs typeface="Arial"/>
              </a:defRPr>
            </a:pPr>
            <a:r>
              <a:rPr sz="2250" b="1">
                <a:solidFill>
                  <a:srgbClr val="D7FF78"/>
                </a:solidFill>
                <a:latin typeface="Arial"/>
                <a:ea typeface="Arial"/>
                <a:cs typeface="Arial"/>
              </a:rPr>
              <a:t>Result remains pending</a:t>
            </a:r>
          </a:p>
        </p:txBody>
      </p:sp>
      <p:sp>
        <p:nvSpPr>
          <p:cNvPr id="14" name="">
            <a:extLst xmlns:a="http://schemas.openxmlformats.org/drawingml/2006/main">
              <a:ext uri="{FF2B5EF4-FFF2-40B4-BE49-F238E27FC236}">
                <a16:creationId xmlns:a16="http://schemas.microsoft.com/office/drawing/2014/main" id="{DE63AAFF-F90D-4753-9F26-191C8231CAA3}"/>
              </a:ext>
            </a:extLst>
          </p:cNvPr>
          <p:cNvSpPr>
            <a:spLocks xmlns:a="http://schemas.openxmlformats.org/drawingml/2006/main" noGrp="1"/>
          </p:cNvSpPr>
          <p:nvPr/>
        </p:nvSpPr>
        <p:spPr>
          <a:xfrm xmlns:a="http://schemas.openxmlformats.org/drawingml/2006/main">
            <a:off x="628650" y="5962650"/>
            <a:ext cx="9620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9C4BA"/>
                </a:solidFill>
                <a:latin typeface="Arial"/>
                <a:ea typeface="Arial"/>
                <a:cs typeface="Arial"/>
              </a:defRPr>
            </a:pPr>
            <a:r>
              <a:rPr sz="1275" b="0">
                <a:solidFill>
                  <a:srgbClr val="A9C4BA"/>
                </a:solidFill>
                <a:latin typeface="Arial"/>
                <a:ea typeface="Arial"/>
                <a:cs typeface="Arial"/>
              </a:rPr>
              <a:t>Each field keeps its source turn. Missing information remains unknown until clarified.</a:t>
            </a:r>
          </a:p>
        </p:txBody>
      </p:sp>
    </p:spTree>
    <p:extLst>
      <p:ext uri="{BB962C8B-B14F-4D97-AF65-F5344CB8AC3E}">
        <p14:creationId xmlns:p14="http://schemas.microsoft.com/office/powerpoint/2010/main" val="1770603386"/>
      </p:ext>
    </p:extLst>
  </p:cSld>
</p:sld>
</file>

<file path=ppt/slides/slide4.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1DDAFD6-D274-4227-98FA-00E9BB18EA96}"/>
              </a:ext>
            </a:extLst>
          </p:cNvPr>
          <p:cNvSpPr>
            <a:spLocks xmlns:a="http://schemas.openxmlformats.org/drawingml/2006/main" noGrp="1"/>
          </p:cNvSpPr>
          <p:nvPr/>
        </p:nvSpPr>
        <p:spPr>
          <a:xfrm xmlns:a="http://schemas.openxmlformats.org/drawingml/2006/main">
            <a:off x="628650" y="361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8716B"/>
                </a:solidFill>
                <a:latin typeface="Arial"/>
                <a:ea typeface="Arial"/>
                <a:cs typeface="Arial"/>
              </a:defRPr>
            </a:pPr>
            <a:r>
              <a:rPr sz="1350" b="1">
                <a:solidFill>
                  <a:srgbClr val="58716B"/>
                </a:solidFill>
                <a:latin typeface="Arial"/>
                <a:ea typeface="Arial"/>
                <a:cs typeface="Arial"/>
              </a:rPr>
              <a:t>CARETHREAD</a:t>
            </a:r>
          </a:p>
        </p:txBody>
      </p:sp>
      <p:sp>
        <p:nvSpPr>
          <p:cNvPr id="2" name="">
            <a:extLst xmlns:a="http://schemas.openxmlformats.org/drawingml/2006/main">
              <a:ext uri="{FF2B5EF4-FFF2-40B4-BE49-F238E27FC236}">
                <a16:creationId xmlns:a16="http://schemas.microsoft.com/office/drawing/2014/main" id="{C23650B3-BBAC-4D25-8F95-CDE4D74735F2}"/>
              </a:ext>
            </a:extLst>
          </p:cNvPr>
          <p:cNvSpPr>
            <a:spLocks xmlns:a="http://schemas.openxmlformats.org/drawingml/2006/main" noGrp="1"/>
          </p:cNvSpPr>
          <p:nvPr/>
        </p:nvSpPr>
        <p:spPr>
          <a:xfrm xmlns:a="http://schemas.openxmlformats.org/drawingml/2006/main">
            <a:off x="628650" y="1000125"/>
            <a:ext cx="10934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D39"/>
                </a:solidFill>
                <a:latin typeface="Arial"/>
                <a:ea typeface="Arial"/>
                <a:cs typeface="Arial"/>
              </a:defRPr>
            </a:pPr>
            <a:r>
              <a:rPr sz="3900" b="1">
                <a:solidFill>
                  <a:srgbClr val="123D39"/>
                </a:solidFill>
                <a:latin typeface="Arial"/>
                <a:ea typeface="Arial"/>
                <a:cs typeface="Arial"/>
              </a:rPr>
              <a:t>Acceptance and completion are separate</a:t>
            </a:r>
          </a:p>
        </p:txBody>
      </p:sp>
      <p:sp>
        <p:nvSpPr>
          <p:cNvPr id="3" name="">
            <a:extLst xmlns:a="http://schemas.openxmlformats.org/drawingml/2006/main">
              <a:ext uri="{FF2B5EF4-FFF2-40B4-BE49-F238E27FC236}">
                <a16:creationId xmlns:a16="http://schemas.microsoft.com/office/drawing/2014/main" id="{8903CA2D-6C73-451F-8290-DEB66EF3D917}"/>
              </a:ext>
            </a:extLst>
          </p:cNvPr>
          <p:cNvSpPr>
            <a:spLocks xmlns:a="http://schemas.openxmlformats.org/drawingml/2006/main" noGrp="1"/>
          </p:cNvSpPr>
          <p:nvPr/>
        </p:nvSpPr>
        <p:spPr>
          <a:xfrm xmlns:a="http://schemas.openxmlformats.org/drawingml/2006/main">
            <a:off x="10620375" y="6210300"/>
            <a:ext cx="1000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716B"/>
                </a:solidFill>
                <a:latin typeface="Arial"/>
                <a:ea typeface="Arial"/>
                <a:cs typeface="Arial"/>
              </a:defRPr>
            </a:pPr>
            <a:r>
              <a:rPr sz="1200" b="0">
                <a:solidFill>
                  <a:srgbClr val="58716B"/>
                </a:solidFill>
                <a:latin typeface="Arial"/>
                <a:ea typeface="Arial"/>
                <a:cs typeface="Arial"/>
              </a:rPr>
              <a:t>04 / 08</a:t>
            </a:r>
          </a:p>
        </p:txBody>
      </p:sp>
      <p:sp>
        <p:nvSpPr>
          <p:cNvPr id="4" name="">
            <a:extLst xmlns:a="http://schemas.openxmlformats.org/drawingml/2006/main">
              <a:ext uri="{FF2B5EF4-FFF2-40B4-BE49-F238E27FC236}">
                <a16:creationId xmlns:a16="http://schemas.microsoft.com/office/drawing/2014/main" id="{CB71E1D6-82FC-445B-ADDD-4DC84144C27B}"/>
              </a:ext>
            </a:extLst>
          </p:cNvPr>
          <p:cNvSpPr>
            <a:spLocks xmlns:a="http://schemas.openxmlformats.org/drawingml/2006/main" noGrp="1"/>
          </p:cNvSpPr>
          <p:nvPr/>
        </p:nvSpPr>
        <p:spPr>
          <a:xfrm xmlns:a="http://schemas.openxmlformats.org/drawingml/2006/main">
            <a:off x="628650" y="25241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58716B"/>
                </a:solidFill>
                <a:latin typeface="Arial"/>
                <a:ea typeface="Arial"/>
                <a:cs typeface="Arial"/>
              </a:defRPr>
            </a:pPr>
            <a:r>
              <a:rPr sz="1500" b="1">
                <a:solidFill>
                  <a:srgbClr val="58716B"/>
                </a:solidFill>
                <a:latin typeface="Arial"/>
                <a:ea typeface="Arial"/>
                <a:cs typeface="Arial"/>
              </a:rPr>
              <a:t>HANDOFF</a:t>
            </a:r>
          </a:p>
        </p:txBody>
      </p:sp>
      <p:sp>
        <p:nvSpPr>
          <p:cNvPr id="5" name="">
            <a:extLst xmlns:a="http://schemas.openxmlformats.org/drawingml/2006/main">
              <a:ext uri="{FF2B5EF4-FFF2-40B4-BE49-F238E27FC236}">
                <a16:creationId xmlns:a16="http://schemas.microsoft.com/office/drawing/2014/main" id="{2C3EC3C0-BE4C-4FCC-BAAC-03A46B06CFB2}"/>
              </a:ext>
            </a:extLst>
          </p:cNvPr>
          <p:cNvSpPr>
            <a:spLocks xmlns:a="http://schemas.openxmlformats.org/drawingml/2006/main" noGrp="1"/>
          </p:cNvSpPr>
          <p:nvPr/>
        </p:nvSpPr>
        <p:spPr>
          <a:xfrm xmlns:a="http://schemas.openxmlformats.org/drawingml/2006/main">
            <a:off x="571500" y="3095625"/>
            <a:ext cx="5334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073A37"/>
                </a:solidFill>
                <a:latin typeface="Arial"/>
                <a:ea typeface="Arial"/>
                <a:cs typeface="Arial"/>
              </a:defRPr>
            </a:pPr>
            <a:r>
              <a:rPr sz="4800" b="1">
                <a:solidFill>
                  <a:srgbClr val="073A37"/>
                </a:solidFill>
                <a:latin typeface="Arial"/>
                <a:ea typeface="Arial"/>
                <a:cs typeface="Arial"/>
              </a:rPr>
              <a:t>Accepted</a:t>
            </a:r>
          </a:p>
        </p:txBody>
      </p:sp>
      <p:sp>
        <p:nvSpPr>
          <p:cNvPr id="6" name="">
            <a:extLst xmlns:a="http://schemas.openxmlformats.org/drawingml/2006/main">
              <a:ext uri="{FF2B5EF4-FFF2-40B4-BE49-F238E27FC236}">
                <a16:creationId xmlns:a16="http://schemas.microsoft.com/office/drawing/2014/main" id="{E7067792-D06B-48DD-A5C2-392D3A0116C1}"/>
              </a:ext>
            </a:extLst>
          </p:cNvPr>
          <p:cNvSpPr>
            <a:spLocks xmlns:a="http://schemas.openxmlformats.org/drawingml/2006/main" noGrp="1"/>
          </p:cNvSpPr>
          <p:nvPr/>
        </p:nvSpPr>
        <p:spPr>
          <a:xfrm xmlns:a="http://schemas.openxmlformats.org/drawingml/2006/main">
            <a:off x="628650" y="4276725"/>
            <a:ext cx="4857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D39"/>
                </a:solidFill>
                <a:latin typeface="Arial"/>
                <a:ea typeface="Arial"/>
                <a:cs typeface="Arial"/>
              </a:defRPr>
            </a:pPr>
            <a:r>
              <a:rPr sz="2250" b="0">
                <a:solidFill>
                  <a:srgbClr val="123D39"/>
                </a:solidFill>
                <a:latin typeface="Arial"/>
                <a:ea typeface="Arial"/>
                <a:cs typeface="Arial"/>
              </a:rPr>
              <a:t>The receiver accepts</a:t>
            </a:r>
          </a:p>
          <a:p xmlns:a="http://schemas.openxmlformats.org/drawingml/2006/main">
            <a:pPr>
              <a:defRPr sz="2250" b="0">
                <a:solidFill>
                  <a:srgbClr val="123D39"/>
                </a:solidFill>
                <a:latin typeface="Arial"/>
                <a:ea typeface="Arial"/>
                <a:cs typeface="Arial"/>
              </a:defRPr>
            </a:pPr>
            <a:r>
              <a:rPr sz="2250" b="0">
                <a:solidFill>
                  <a:srgbClr val="123D39"/>
                </a:solidFill>
                <a:latin typeface="Arial"/>
                <a:ea typeface="Arial"/>
                <a:cs typeface="Arial"/>
              </a:rPr>
              <a:t>the current revision.</a:t>
            </a:r>
          </a:p>
        </p:txBody>
      </p:sp>
      <p:sp>
        <p:nvSpPr>
          <p:cNvPr id="7" name="">
            <a:extLst xmlns:a="http://schemas.openxmlformats.org/drawingml/2006/main">
              <a:ext uri="{FF2B5EF4-FFF2-40B4-BE49-F238E27FC236}">
                <a16:creationId xmlns:a16="http://schemas.microsoft.com/office/drawing/2014/main" id="{CFA607D7-F0DF-4DCF-9877-ED2E89184934}"/>
              </a:ext>
            </a:extLst>
          </p:cNvPr>
          <p:cNvSpPr>
            <a:spLocks xmlns:a="http://schemas.openxmlformats.org/drawingml/2006/main" noGrp="1"/>
          </p:cNvSpPr>
          <p:nvPr/>
        </p:nvSpPr>
        <p:spPr>
          <a:xfrm xmlns:a="http://schemas.openxmlformats.org/drawingml/2006/main">
            <a:off x="6419850" y="25241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58716B"/>
                </a:solidFill>
                <a:latin typeface="Arial"/>
                <a:ea typeface="Arial"/>
                <a:cs typeface="Arial"/>
              </a:defRPr>
            </a:pPr>
            <a:r>
              <a:rPr sz="1500" b="1">
                <a:solidFill>
                  <a:srgbClr val="58716B"/>
                </a:solidFill>
                <a:latin typeface="Arial"/>
                <a:ea typeface="Arial"/>
                <a:cs typeface="Arial"/>
              </a:rPr>
              <a:t>CLINICAL TASK</a:t>
            </a:r>
          </a:p>
        </p:txBody>
      </p:sp>
      <p:sp>
        <p:nvSpPr>
          <p:cNvPr id="8" name="">
            <a:extLst xmlns:a="http://schemas.openxmlformats.org/drawingml/2006/main">
              <a:ext uri="{FF2B5EF4-FFF2-40B4-BE49-F238E27FC236}">
                <a16:creationId xmlns:a16="http://schemas.microsoft.com/office/drawing/2014/main" id="{BAEA3842-F1EE-49CA-81E5-DF1E1E4C6671}"/>
              </a:ext>
            </a:extLst>
          </p:cNvPr>
          <p:cNvSpPr>
            <a:spLocks xmlns:a="http://schemas.openxmlformats.org/drawingml/2006/main" noGrp="1"/>
          </p:cNvSpPr>
          <p:nvPr/>
        </p:nvSpPr>
        <p:spPr>
          <a:xfrm xmlns:a="http://schemas.openxmlformats.org/drawingml/2006/main">
            <a:off x="6362700" y="3095625"/>
            <a:ext cx="5219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073A37"/>
                </a:solidFill>
                <a:latin typeface="Arial"/>
                <a:ea typeface="Arial"/>
                <a:cs typeface="Arial"/>
              </a:defRPr>
            </a:pPr>
            <a:r>
              <a:rPr sz="4650" b="1">
                <a:solidFill>
                  <a:srgbClr val="073A37"/>
                </a:solidFill>
                <a:latin typeface="Arial"/>
                <a:ea typeface="Arial"/>
                <a:cs typeface="Arial"/>
              </a:rPr>
              <a:t>Still pending</a:t>
            </a:r>
          </a:p>
        </p:txBody>
      </p:sp>
      <p:sp>
        <p:nvSpPr>
          <p:cNvPr id="9" name="">
            <a:extLst xmlns:a="http://schemas.openxmlformats.org/drawingml/2006/main">
              <a:ext uri="{FF2B5EF4-FFF2-40B4-BE49-F238E27FC236}">
                <a16:creationId xmlns:a16="http://schemas.microsoft.com/office/drawing/2014/main" id="{FDA86E1C-12C7-4A53-A76E-4A4FC4B6DFD1}"/>
              </a:ext>
            </a:extLst>
          </p:cNvPr>
          <p:cNvSpPr>
            <a:spLocks xmlns:a="http://schemas.openxmlformats.org/drawingml/2006/main" noGrp="1"/>
          </p:cNvSpPr>
          <p:nvPr/>
        </p:nvSpPr>
        <p:spPr>
          <a:xfrm xmlns:a="http://schemas.openxmlformats.org/drawingml/2006/main">
            <a:off x="6419850" y="4276725"/>
            <a:ext cx="5143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D39"/>
                </a:solidFill>
                <a:latin typeface="Arial"/>
                <a:ea typeface="Arial"/>
                <a:cs typeface="Arial"/>
              </a:defRPr>
            </a:pPr>
            <a:r>
              <a:rPr sz="2250" b="0">
                <a:solidFill>
                  <a:srgbClr val="123D39"/>
                </a:solidFill>
                <a:latin typeface="Arial"/>
                <a:ea typeface="Arial"/>
                <a:cs typeface="Arial"/>
              </a:rPr>
              <a:t>Completion requires</a:t>
            </a:r>
          </a:p>
          <a:p xmlns:a="http://schemas.openxmlformats.org/drawingml/2006/main">
            <a:pPr>
              <a:defRPr sz="2250" b="0">
                <a:solidFill>
                  <a:srgbClr val="123D39"/>
                </a:solidFill>
                <a:latin typeface="Arial"/>
                <a:ea typeface="Arial"/>
                <a:cs typeface="Arial"/>
              </a:defRPr>
            </a:pPr>
            <a:r>
              <a:rPr sz="2250" b="0">
                <a:solidFill>
                  <a:srgbClr val="123D39"/>
                </a:solidFill>
                <a:latin typeface="Arial"/>
                <a:ea typeface="Arial"/>
                <a:cs typeface="Arial"/>
              </a:rPr>
              <a:t>a separate clinician report.</a:t>
            </a:r>
          </a:p>
        </p:txBody>
      </p:sp>
      <p:sp>
        <p:nvSpPr>
          <p:cNvPr id="10" name="">
            <a:extLst xmlns:a="http://schemas.openxmlformats.org/drawingml/2006/main">
              <a:ext uri="{FF2B5EF4-FFF2-40B4-BE49-F238E27FC236}">
                <a16:creationId xmlns:a16="http://schemas.microsoft.com/office/drawing/2014/main" id="{38F4BF42-6592-476B-BA0D-C83C8F4ADC95}"/>
              </a:ext>
            </a:extLst>
          </p:cNvPr>
          <p:cNvSpPr>
            <a:spLocks xmlns:a="http://schemas.openxmlformats.org/drawingml/2006/main" noGrp="1"/>
          </p:cNvSpPr>
          <p:nvPr/>
        </p:nvSpPr>
        <p:spPr>
          <a:xfrm xmlns:a="http://schemas.openxmlformats.org/drawingml/2006/main">
            <a:off x="628650" y="5962650"/>
            <a:ext cx="9620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8716B"/>
                </a:solidFill>
                <a:latin typeface="Arial"/>
                <a:ea typeface="Arial"/>
                <a:cs typeface="Arial"/>
              </a:defRPr>
            </a:pPr>
            <a:r>
              <a:rPr sz="1275" b="0">
                <a:solidFill>
                  <a:srgbClr val="58716B"/>
                </a:solidFill>
                <a:latin typeface="Arial"/>
                <a:ea typeface="Arial"/>
                <a:cs typeface="Arial"/>
              </a:rPr>
              <a:t>A substantive correction invalidates the earlier acceptance and requires review again.</a:t>
            </a:r>
          </a:p>
        </p:txBody>
      </p:sp>
    </p:spTree>
    <p:extLst>
      <p:ext uri="{BB962C8B-B14F-4D97-AF65-F5344CB8AC3E}">
        <p14:creationId xmlns:p14="http://schemas.microsoft.com/office/powerpoint/2010/main" val="59512959"/>
      </p:ext>
    </p:extLst>
  </p:cSld>
</p:sld>
</file>

<file path=ppt/slides/slide5.xml><?xml version="1.0" encoding="utf-8"?>
<p:sld xmlns:p="http://schemas.openxmlformats.org/presentationml/2006/main">
  <p:cSld>
    <p:bg>
      <p:bgPr>
        <a:solidFill xmlns:a="http://schemas.openxmlformats.org/drawingml/2006/main">
          <a:srgbClr val="073A3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C22EAB3-641F-48FB-9D86-E8A589DFFF6F}"/>
              </a:ext>
            </a:extLst>
          </p:cNvPr>
          <p:cNvSpPr>
            <a:spLocks xmlns:a="http://schemas.openxmlformats.org/drawingml/2006/main" noGrp="1"/>
          </p:cNvSpPr>
          <p:nvPr/>
        </p:nvSpPr>
        <p:spPr>
          <a:xfrm xmlns:a="http://schemas.openxmlformats.org/drawingml/2006/main">
            <a:off x="628650" y="361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A9C4BA"/>
                </a:solidFill>
                <a:latin typeface="Arial"/>
                <a:ea typeface="Arial"/>
                <a:cs typeface="Arial"/>
              </a:defRPr>
            </a:pPr>
            <a:r>
              <a:rPr sz="1350" b="1">
                <a:solidFill>
                  <a:srgbClr val="A9C4BA"/>
                </a:solidFill>
                <a:latin typeface="Arial"/>
                <a:ea typeface="Arial"/>
                <a:cs typeface="Arial"/>
              </a:rPr>
              <a:t>CARETHREAD</a:t>
            </a:r>
          </a:p>
        </p:txBody>
      </p:sp>
      <p:sp>
        <p:nvSpPr>
          <p:cNvPr id="2" name="">
            <a:extLst xmlns:a="http://schemas.openxmlformats.org/drawingml/2006/main">
              <a:ext uri="{FF2B5EF4-FFF2-40B4-BE49-F238E27FC236}">
                <a16:creationId xmlns:a16="http://schemas.microsoft.com/office/drawing/2014/main" id="{199EBF99-8CD8-4C36-941A-46E32065A17F}"/>
              </a:ext>
            </a:extLst>
          </p:cNvPr>
          <p:cNvSpPr>
            <a:spLocks xmlns:a="http://schemas.openxmlformats.org/drawingml/2006/main" noGrp="1"/>
          </p:cNvSpPr>
          <p:nvPr/>
        </p:nvSpPr>
        <p:spPr>
          <a:xfrm xmlns:a="http://schemas.openxmlformats.org/drawingml/2006/main">
            <a:off x="628650" y="1000125"/>
            <a:ext cx="10934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AssemblyAI powers speech and planning</a:t>
            </a:r>
          </a:p>
        </p:txBody>
      </p:sp>
      <p:sp>
        <p:nvSpPr>
          <p:cNvPr id="3" name="">
            <a:extLst xmlns:a="http://schemas.openxmlformats.org/drawingml/2006/main">
              <a:ext uri="{FF2B5EF4-FFF2-40B4-BE49-F238E27FC236}">
                <a16:creationId xmlns:a16="http://schemas.microsoft.com/office/drawing/2014/main" id="{A46C6C7F-9E38-4FFC-B3E2-E481E6E3FDE0}"/>
              </a:ext>
            </a:extLst>
          </p:cNvPr>
          <p:cNvSpPr>
            <a:spLocks xmlns:a="http://schemas.openxmlformats.org/drawingml/2006/main" noGrp="1"/>
          </p:cNvSpPr>
          <p:nvPr/>
        </p:nvSpPr>
        <p:spPr>
          <a:xfrm xmlns:a="http://schemas.openxmlformats.org/drawingml/2006/main">
            <a:off x="10620375" y="6210300"/>
            <a:ext cx="1000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9C4BA"/>
                </a:solidFill>
                <a:latin typeface="Arial"/>
                <a:ea typeface="Arial"/>
                <a:cs typeface="Arial"/>
              </a:defRPr>
            </a:pPr>
            <a:r>
              <a:rPr sz="1200" b="0">
                <a:solidFill>
                  <a:srgbClr val="A9C4BA"/>
                </a:solidFill>
                <a:latin typeface="Arial"/>
                <a:ea typeface="Arial"/>
                <a:cs typeface="Arial"/>
              </a:rPr>
              <a:t>05 / 08</a:t>
            </a:r>
          </a:p>
        </p:txBody>
      </p:sp>
      <p:sp>
        <p:nvSpPr>
          <p:cNvPr id="4" name="">
            <a:extLst xmlns:a="http://schemas.openxmlformats.org/drawingml/2006/main">
              <a:ext uri="{FF2B5EF4-FFF2-40B4-BE49-F238E27FC236}">
                <a16:creationId xmlns:a16="http://schemas.microsoft.com/office/drawing/2014/main" id="{07871EF5-01EE-4757-991A-037D7B10944E}"/>
              </a:ext>
            </a:extLst>
          </p:cNvPr>
          <p:cNvSpPr>
            <a:spLocks xmlns:a="http://schemas.openxmlformats.org/drawingml/2006/main" noGrp="1"/>
          </p:cNvSpPr>
          <p:nvPr/>
        </p:nvSpPr>
        <p:spPr>
          <a:xfrm xmlns:a="http://schemas.openxmlformats.org/drawingml/2006/main">
            <a:off x="628650" y="2505075"/>
            <a:ext cx="276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D7FF78"/>
                </a:solidFill>
                <a:latin typeface="Arial"/>
                <a:ea typeface="Arial"/>
                <a:cs typeface="Arial"/>
              </a:defRPr>
            </a:pPr>
            <a:r>
              <a:rPr sz="3750" b="1">
                <a:solidFill>
                  <a:srgbClr val="D7FF7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742C4298-7DD8-4373-B168-C2527A47780E}"/>
              </a:ext>
            </a:extLst>
          </p:cNvPr>
          <p:cNvSpPr>
            <a:spLocks xmlns:a="http://schemas.openxmlformats.org/drawingml/2006/main" noGrp="1"/>
          </p:cNvSpPr>
          <p:nvPr/>
        </p:nvSpPr>
        <p:spPr>
          <a:xfrm xmlns:a="http://schemas.openxmlformats.org/drawingml/2006/main">
            <a:off x="628650" y="3352800"/>
            <a:ext cx="328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Browser</a:t>
            </a:r>
          </a:p>
        </p:txBody>
      </p:sp>
      <p:sp>
        <p:nvSpPr>
          <p:cNvPr id="6" name="">
            <a:extLst xmlns:a="http://schemas.openxmlformats.org/drawingml/2006/main">
              <a:ext uri="{FF2B5EF4-FFF2-40B4-BE49-F238E27FC236}">
                <a16:creationId xmlns:a16="http://schemas.microsoft.com/office/drawing/2014/main" id="{6DEBD2C5-42EE-4558-AACD-421BEC877BD0}"/>
              </a:ext>
            </a:extLst>
          </p:cNvPr>
          <p:cNvSpPr>
            <a:spLocks xmlns:a="http://schemas.openxmlformats.org/drawingml/2006/main" noGrp="1"/>
          </p:cNvSpPr>
          <p:nvPr/>
        </p:nvSpPr>
        <p:spPr>
          <a:xfrm xmlns:a="http://schemas.openxmlformats.org/drawingml/2006/main">
            <a:off x="628650" y="4114800"/>
            <a:ext cx="32956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Selected sender or receiver</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Microphone and transcript</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Visible source evidence</a:t>
            </a:r>
          </a:p>
        </p:txBody>
      </p:sp>
      <p:sp>
        <p:nvSpPr>
          <p:cNvPr id="7" name="">
            <a:extLst xmlns:a="http://schemas.openxmlformats.org/drawingml/2006/main">
              <a:ext uri="{FF2B5EF4-FFF2-40B4-BE49-F238E27FC236}">
                <a16:creationId xmlns:a16="http://schemas.microsoft.com/office/drawing/2014/main" id="{887F435F-3AD8-4E5D-9302-EABA9FA78A00}"/>
              </a:ext>
            </a:extLst>
          </p:cNvPr>
          <p:cNvSpPr>
            <a:spLocks xmlns:a="http://schemas.openxmlformats.org/drawingml/2006/main" noGrp="1"/>
          </p:cNvSpPr>
          <p:nvPr/>
        </p:nvSpPr>
        <p:spPr>
          <a:xfrm xmlns:a="http://schemas.openxmlformats.org/drawingml/2006/main">
            <a:off x="4419600" y="2505075"/>
            <a:ext cx="276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D7FF78"/>
                </a:solidFill>
                <a:latin typeface="Arial"/>
                <a:ea typeface="Arial"/>
                <a:cs typeface="Arial"/>
              </a:defRPr>
            </a:pPr>
            <a:r>
              <a:rPr sz="3750" b="1">
                <a:solidFill>
                  <a:srgbClr val="D7FF7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1AD14C69-B371-4197-A2B0-17C5699FC906}"/>
              </a:ext>
            </a:extLst>
          </p:cNvPr>
          <p:cNvSpPr>
            <a:spLocks xmlns:a="http://schemas.openxmlformats.org/drawingml/2006/main" noGrp="1"/>
          </p:cNvSpPr>
          <p:nvPr/>
        </p:nvSpPr>
        <p:spPr>
          <a:xfrm xmlns:a="http://schemas.openxmlformats.org/drawingml/2006/main">
            <a:off x="4419600" y="3352800"/>
            <a:ext cx="328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AssemblyAI</a:t>
            </a:r>
          </a:p>
        </p:txBody>
      </p:sp>
      <p:sp>
        <p:nvSpPr>
          <p:cNvPr id="9" name="">
            <a:extLst xmlns:a="http://schemas.openxmlformats.org/drawingml/2006/main">
              <a:ext uri="{FF2B5EF4-FFF2-40B4-BE49-F238E27FC236}">
                <a16:creationId xmlns:a16="http://schemas.microsoft.com/office/drawing/2014/main" id="{8D82D7EF-24F3-48AE-9D6A-ED1F45ECFDB9}"/>
              </a:ext>
            </a:extLst>
          </p:cNvPr>
          <p:cNvSpPr>
            <a:spLocks xmlns:a="http://schemas.openxmlformats.org/drawingml/2006/main" noGrp="1"/>
          </p:cNvSpPr>
          <p:nvPr/>
        </p:nvSpPr>
        <p:spPr>
          <a:xfrm xmlns:a="http://schemas.openxmlformats.org/drawingml/2006/main">
            <a:off x="4419600" y="4114800"/>
            <a:ext cx="32956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Voice Agent conversation</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LLM Gateway JSON plans</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Proposed board changes</a:t>
            </a:r>
          </a:p>
        </p:txBody>
      </p:sp>
      <p:sp>
        <p:nvSpPr>
          <p:cNvPr id="10" name="">
            <a:extLst xmlns:a="http://schemas.openxmlformats.org/drawingml/2006/main">
              <a:ext uri="{FF2B5EF4-FFF2-40B4-BE49-F238E27FC236}">
                <a16:creationId xmlns:a16="http://schemas.microsoft.com/office/drawing/2014/main" id="{C4BD21B2-5FC4-459B-928F-4C54B719459C}"/>
              </a:ext>
            </a:extLst>
          </p:cNvPr>
          <p:cNvSpPr>
            <a:spLocks xmlns:a="http://schemas.openxmlformats.org/drawingml/2006/main" noGrp="1"/>
          </p:cNvSpPr>
          <p:nvPr/>
        </p:nvSpPr>
        <p:spPr>
          <a:xfrm xmlns:a="http://schemas.openxmlformats.org/drawingml/2006/main">
            <a:off x="8210550" y="2505075"/>
            <a:ext cx="276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D7FF78"/>
                </a:solidFill>
                <a:latin typeface="Arial"/>
                <a:ea typeface="Arial"/>
                <a:cs typeface="Arial"/>
              </a:defRPr>
            </a:pPr>
            <a:r>
              <a:rPr sz="3750" b="1">
                <a:solidFill>
                  <a:srgbClr val="D7FF7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CA955C51-6613-4444-9D37-F52D8D65F67D}"/>
              </a:ext>
            </a:extLst>
          </p:cNvPr>
          <p:cNvSpPr>
            <a:spLocks xmlns:a="http://schemas.openxmlformats.org/drawingml/2006/main" noGrp="1"/>
          </p:cNvSpPr>
          <p:nvPr/>
        </p:nvSpPr>
        <p:spPr>
          <a:xfrm xmlns:a="http://schemas.openxmlformats.org/drawingml/2006/main">
            <a:off x="8210550" y="3352800"/>
            <a:ext cx="328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Validated state</a:t>
            </a:r>
          </a:p>
        </p:txBody>
      </p:sp>
      <p:sp>
        <p:nvSpPr>
          <p:cNvPr id="12" name="">
            <a:extLst xmlns:a="http://schemas.openxmlformats.org/drawingml/2006/main">
              <a:ext uri="{FF2B5EF4-FFF2-40B4-BE49-F238E27FC236}">
                <a16:creationId xmlns:a16="http://schemas.microsoft.com/office/drawing/2014/main" id="{CE83631D-E82D-41B1-87AB-6C55155181A9}"/>
              </a:ext>
            </a:extLst>
          </p:cNvPr>
          <p:cNvSpPr>
            <a:spLocks xmlns:a="http://schemas.openxmlformats.org/drawingml/2006/main" noGrp="1"/>
          </p:cNvSpPr>
          <p:nvPr/>
        </p:nvSpPr>
        <p:spPr>
          <a:xfrm xmlns:a="http://schemas.openxmlformats.org/drawingml/2006/main">
            <a:off x="8210550" y="4114800"/>
            <a:ext cx="32956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Required fields and revisions</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Separate acceptance state</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Open-task record and export</a:t>
            </a:r>
          </a:p>
        </p:txBody>
      </p:sp>
      <p:sp>
        <p:nvSpPr>
          <p:cNvPr id="13" name="">
            <a:extLst xmlns:a="http://schemas.openxmlformats.org/drawingml/2006/main">
              <a:ext uri="{FF2B5EF4-FFF2-40B4-BE49-F238E27FC236}">
                <a16:creationId xmlns:a16="http://schemas.microsoft.com/office/drawing/2014/main" id="{9B02D658-3E0F-4B9E-ACC4-B665CCA50989}"/>
              </a:ext>
            </a:extLst>
          </p:cNvPr>
          <p:cNvSpPr>
            <a:spLocks xmlns:a="http://schemas.openxmlformats.org/drawingml/2006/main" noGrp="1"/>
          </p:cNvSpPr>
          <p:nvPr/>
        </p:nvSpPr>
        <p:spPr>
          <a:xfrm xmlns:a="http://schemas.openxmlformats.org/drawingml/2006/main">
            <a:off x="628650" y="5962650"/>
            <a:ext cx="9620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9C4BA"/>
                </a:solidFill>
                <a:latin typeface="Arial"/>
                <a:ea typeface="Arial"/>
                <a:cs typeface="Arial"/>
              </a:defRPr>
            </a:pPr>
            <a:r>
              <a:rPr sz="1275" b="0">
                <a:solidFill>
                  <a:srgbClr val="A9C4BA"/>
                </a:solidFill>
                <a:latin typeface="Arial"/>
                <a:ea typeface="Arial"/>
                <a:cs typeface="Arial"/>
              </a:rPr>
              <a:t>Server protects the key. AssemblyAI processes audio and text. Browser records remain local.</a:t>
            </a:r>
          </a:p>
        </p:txBody>
      </p:sp>
    </p:spTree>
    <p:extLst>
      <p:ext uri="{BB962C8B-B14F-4D97-AF65-F5344CB8AC3E}">
        <p14:creationId xmlns:p14="http://schemas.microsoft.com/office/powerpoint/2010/main" val="1662391313"/>
      </p:ext>
    </p:extLst>
  </p:cSld>
</p:sld>
</file>

<file path=ppt/slides/slide6.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1F63554-BEA0-4E73-B5A1-9FD32530E1B7}"/>
              </a:ext>
            </a:extLst>
          </p:cNvPr>
          <p:cNvSpPr>
            <a:spLocks xmlns:a="http://schemas.openxmlformats.org/drawingml/2006/main" noGrp="1"/>
          </p:cNvSpPr>
          <p:nvPr/>
        </p:nvSpPr>
        <p:spPr>
          <a:xfrm xmlns:a="http://schemas.openxmlformats.org/drawingml/2006/main">
            <a:off x="628650" y="361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8716B"/>
                </a:solidFill>
                <a:latin typeface="Arial"/>
                <a:ea typeface="Arial"/>
                <a:cs typeface="Arial"/>
              </a:defRPr>
            </a:pPr>
            <a:r>
              <a:rPr sz="1350" b="1">
                <a:solidFill>
                  <a:srgbClr val="58716B"/>
                </a:solidFill>
                <a:latin typeface="Arial"/>
                <a:ea typeface="Arial"/>
                <a:cs typeface="Arial"/>
              </a:rPr>
              <a:t>CARETHREAD</a:t>
            </a:r>
          </a:p>
        </p:txBody>
      </p:sp>
      <p:sp>
        <p:nvSpPr>
          <p:cNvPr id="2" name="">
            <a:extLst xmlns:a="http://schemas.openxmlformats.org/drawingml/2006/main">
              <a:ext uri="{FF2B5EF4-FFF2-40B4-BE49-F238E27FC236}">
                <a16:creationId xmlns:a16="http://schemas.microsoft.com/office/drawing/2014/main" id="{045478D7-235D-4DD7-B972-2425CAD1FD29}"/>
              </a:ext>
            </a:extLst>
          </p:cNvPr>
          <p:cNvSpPr>
            <a:spLocks xmlns:a="http://schemas.openxmlformats.org/drawingml/2006/main" noGrp="1"/>
          </p:cNvSpPr>
          <p:nvPr/>
        </p:nvSpPr>
        <p:spPr>
          <a:xfrm xmlns:a="http://schemas.openxmlformats.org/drawingml/2006/main">
            <a:off x="628650" y="1000125"/>
            <a:ext cx="10934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D39"/>
                </a:solidFill>
                <a:latin typeface="Arial"/>
                <a:ea typeface="Arial"/>
                <a:cs typeface="Arial"/>
              </a:defRPr>
            </a:pPr>
            <a:r>
              <a:rPr sz="3900" b="1">
                <a:solidFill>
                  <a:srgbClr val="123D39"/>
                </a:solidFill>
                <a:latin typeface="Arial"/>
                <a:ea typeface="Arial"/>
                <a:cs typeface="Arial"/>
              </a:rPr>
              <a:t>Simulation is the first setting</a:t>
            </a:r>
          </a:p>
        </p:txBody>
      </p:sp>
      <p:sp>
        <p:nvSpPr>
          <p:cNvPr id="3" name="">
            <a:extLst xmlns:a="http://schemas.openxmlformats.org/drawingml/2006/main">
              <a:ext uri="{FF2B5EF4-FFF2-40B4-BE49-F238E27FC236}">
                <a16:creationId xmlns:a16="http://schemas.microsoft.com/office/drawing/2014/main" id="{9763ED52-5F50-49FE-B17B-5B2C2AC67436}"/>
              </a:ext>
            </a:extLst>
          </p:cNvPr>
          <p:cNvSpPr>
            <a:spLocks xmlns:a="http://schemas.openxmlformats.org/drawingml/2006/main" noGrp="1"/>
          </p:cNvSpPr>
          <p:nvPr/>
        </p:nvSpPr>
        <p:spPr>
          <a:xfrm xmlns:a="http://schemas.openxmlformats.org/drawingml/2006/main">
            <a:off x="10620375" y="6210300"/>
            <a:ext cx="1000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716B"/>
                </a:solidFill>
                <a:latin typeface="Arial"/>
                <a:ea typeface="Arial"/>
                <a:cs typeface="Arial"/>
              </a:defRPr>
            </a:pPr>
            <a:r>
              <a:rPr sz="1200" b="0">
                <a:solidFill>
                  <a:srgbClr val="58716B"/>
                </a:solidFill>
                <a:latin typeface="Arial"/>
                <a:ea typeface="Arial"/>
                <a:cs typeface="Arial"/>
              </a:rPr>
              <a:t>06 / 08</a:t>
            </a:r>
          </a:p>
        </p:txBody>
      </p:sp>
      <p:sp>
        <p:nvSpPr>
          <p:cNvPr id="4" name="">
            <a:extLst xmlns:a="http://schemas.openxmlformats.org/drawingml/2006/main">
              <a:ext uri="{FF2B5EF4-FFF2-40B4-BE49-F238E27FC236}">
                <a16:creationId xmlns:a16="http://schemas.microsoft.com/office/drawing/2014/main" id="{88705C56-15E1-4A24-8F87-BF5A084E7875}"/>
              </a:ext>
            </a:extLst>
          </p:cNvPr>
          <p:cNvSpPr>
            <a:spLocks xmlns:a="http://schemas.openxmlformats.org/drawingml/2006/main" noGrp="1"/>
          </p:cNvSpPr>
          <p:nvPr/>
        </p:nvSpPr>
        <p:spPr>
          <a:xfrm xmlns:a="http://schemas.openxmlformats.org/drawingml/2006/main">
            <a:off x="628650" y="2495550"/>
            <a:ext cx="404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58716B"/>
                </a:solidFill>
                <a:latin typeface="Arial"/>
                <a:ea typeface="Arial"/>
                <a:cs typeface="Arial"/>
              </a:defRPr>
            </a:pPr>
            <a:r>
              <a:rPr sz="1725" b="1">
                <a:solidFill>
                  <a:srgbClr val="58716B"/>
                </a:solidFill>
                <a:latin typeface="Arial"/>
                <a:ea typeface="Arial"/>
                <a:cs typeface="Arial"/>
              </a:rPr>
              <a:t>Initial users</a:t>
            </a:r>
          </a:p>
        </p:txBody>
      </p:sp>
      <p:sp>
        <p:nvSpPr>
          <p:cNvPr id="5" name="">
            <a:extLst xmlns:a="http://schemas.openxmlformats.org/drawingml/2006/main">
              <a:ext uri="{FF2B5EF4-FFF2-40B4-BE49-F238E27FC236}">
                <a16:creationId xmlns:a16="http://schemas.microsoft.com/office/drawing/2014/main" id="{0D6A7A09-3AD5-47B1-B755-03399E5556EB}"/>
              </a:ext>
            </a:extLst>
          </p:cNvPr>
          <p:cNvSpPr>
            <a:spLocks xmlns:a="http://schemas.openxmlformats.org/drawingml/2006/main" noGrp="1"/>
          </p:cNvSpPr>
          <p:nvPr/>
        </p:nvSpPr>
        <p:spPr>
          <a:xfrm xmlns:a="http://schemas.openxmlformats.org/drawingml/2006/main">
            <a:off x="590550" y="3076575"/>
            <a:ext cx="53530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73A37"/>
                </a:solidFill>
                <a:latin typeface="Arial"/>
                <a:ea typeface="Arial"/>
                <a:cs typeface="Arial"/>
              </a:defRPr>
            </a:pPr>
            <a:r>
              <a:rPr sz="2925" b="1">
                <a:solidFill>
                  <a:srgbClr val="073A37"/>
                </a:solidFill>
                <a:latin typeface="Arial"/>
                <a:ea typeface="Arial"/>
                <a:cs typeface="Arial"/>
              </a:rPr>
              <a:t>Clinical educators</a:t>
            </a:r>
          </a:p>
          <a:p xmlns:a="http://schemas.openxmlformats.org/drawingml/2006/main">
            <a:pPr>
              <a:defRPr sz="2925" b="1">
                <a:solidFill>
                  <a:srgbClr val="073A37"/>
                </a:solidFill>
                <a:latin typeface="Arial"/>
                <a:ea typeface="Arial"/>
                <a:cs typeface="Arial"/>
              </a:defRPr>
            </a:pPr>
            <a:r>
              <a:rPr sz="2925" b="1">
                <a:solidFill>
                  <a:srgbClr val="073A37"/>
                </a:solidFill>
                <a:latin typeface="Arial"/>
                <a:ea typeface="Arial"/>
                <a:cs typeface="Arial"/>
              </a:rPr>
              <a:t>and simulation centers</a:t>
            </a:r>
          </a:p>
        </p:txBody>
      </p:sp>
      <p:sp>
        <p:nvSpPr>
          <p:cNvPr id="6" name="">
            <a:extLst xmlns:a="http://schemas.openxmlformats.org/drawingml/2006/main">
              <a:ext uri="{FF2B5EF4-FFF2-40B4-BE49-F238E27FC236}">
                <a16:creationId xmlns:a16="http://schemas.microsoft.com/office/drawing/2014/main" id="{0E7BFCE1-6A27-4A39-8211-56886A4E9505}"/>
              </a:ext>
            </a:extLst>
          </p:cNvPr>
          <p:cNvSpPr>
            <a:spLocks xmlns:a="http://schemas.openxmlformats.org/drawingml/2006/main" noGrp="1"/>
          </p:cNvSpPr>
          <p:nvPr/>
        </p:nvSpPr>
        <p:spPr>
          <a:xfrm xmlns:a="http://schemas.openxmlformats.org/drawingml/2006/main">
            <a:off x="6648450" y="2495550"/>
            <a:ext cx="4648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58716B"/>
                </a:solidFill>
                <a:latin typeface="Arial"/>
                <a:ea typeface="Arial"/>
                <a:cs typeface="Arial"/>
              </a:defRPr>
            </a:pPr>
            <a:r>
              <a:rPr sz="1725" b="1">
                <a:solidFill>
                  <a:srgbClr val="58716B"/>
                </a:solidFill>
                <a:latin typeface="Arial"/>
                <a:ea typeface="Arial"/>
                <a:cs typeface="Arial"/>
              </a:rPr>
              <a:t>Product hypothesis</a:t>
            </a:r>
          </a:p>
        </p:txBody>
      </p:sp>
      <p:sp>
        <p:nvSpPr>
          <p:cNvPr id="7" name="">
            <a:extLst xmlns:a="http://schemas.openxmlformats.org/drawingml/2006/main">
              <a:ext uri="{FF2B5EF4-FFF2-40B4-BE49-F238E27FC236}">
                <a16:creationId xmlns:a16="http://schemas.microsoft.com/office/drawing/2014/main" id="{1D1195F2-4FEF-467F-9505-AF2D083D65A9}"/>
              </a:ext>
            </a:extLst>
          </p:cNvPr>
          <p:cNvSpPr>
            <a:spLocks xmlns:a="http://schemas.openxmlformats.org/drawingml/2006/main" noGrp="1"/>
          </p:cNvSpPr>
          <p:nvPr/>
        </p:nvSpPr>
        <p:spPr>
          <a:xfrm xmlns:a="http://schemas.openxmlformats.org/drawingml/2006/main">
            <a:off x="6610350" y="3076575"/>
            <a:ext cx="47148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D39"/>
                </a:solidFill>
                <a:latin typeface="Arial"/>
                <a:ea typeface="Arial"/>
                <a:cs typeface="Arial"/>
              </a:defRPr>
            </a:pPr>
            <a:r>
              <a:rPr sz="2250" b="0">
                <a:solidFill>
                  <a:srgbClr val="123D39"/>
                </a:solidFill>
                <a:latin typeface="Arial"/>
                <a:ea typeface="Arial"/>
                <a:cs typeface="Arial"/>
              </a:rPr>
              <a:t>A reviewable handoff exercise</a:t>
            </a:r>
          </a:p>
          <a:p xmlns:a="http://schemas.openxmlformats.org/drawingml/2006/main">
            <a:pPr>
              <a:defRPr sz="2250" b="0">
                <a:solidFill>
                  <a:srgbClr val="123D39"/>
                </a:solidFill>
                <a:latin typeface="Arial"/>
                <a:ea typeface="Arial"/>
                <a:cs typeface="Arial"/>
              </a:defRPr>
            </a:pPr>
            <a:r>
              <a:rPr sz="2250" b="0">
                <a:solidFill>
                  <a:srgbClr val="123D39"/>
                </a:solidFill>
                <a:latin typeface="Arial"/>
                <a:ea typeface="Arial"/>
                <a:cs typeface="Arial"/>
              </a:rPr>
              <a:t>with visible omissions,</a:t>
            </a:r>
          </a:p>
          <a:p xmlns:a="http://schemas.openxmlformats.org/drawingml/2006/main">
            <a:pPr>
              <a:defRPr sz="2250" b="0">
                <a:solidFill>
                  <a:srgbClr val="123D39"/>
                </a:solidFill>
                <a:latin typeface="Arial"/>
                <a:ea typeface="Arial"/>
                <a:cs typeface="Arial"/>
              </a:defRPr>
            </a:pPr>
            <a:r>
              <a:rPr sz="2250" b="0">
                <a:solidFill>
                  <a:srgbClr val="123D39"/>
                </a:solidFill>
                <a:latin typeface="Arial"/>
                <a:ea typeface="Arial"/>
                <a:cs typeface="Arial"/>
              </a:rPr>
              <a:t>clarifications and acceptance.</a:t>
            </a:r>
          </a:p>
        </p:txBody>
      </p:sp>
      <p:sp>
        <p:nvSpPr>
          <p:cNvPr id="8" name="">
            <a:extLst xmlns:a="http://schemas.openxmlformats.org/drawingml/2006/main">
              <a:ext uri="{FF2B5EF4-FFF2-40B4-BE49-F238E27FC236}">
                <a16:creationId xmlns:a16="http://schemas.microsoft.com/office/drawing/2014/main" id="{4F24DE8C-1BAE-46C5-B4B6-C52B1FFC9471}"/>
              </a:ext>
            </a:extLst>
          </p:cNvPr>
          <p:cNvSpPr>
            <a:spLocks xmlns:a="http://schemas.openxmlformats.org/drawingml/2006/main" noGrp="1"/>
          </p:cNvSpPr>
          <p:nvPr/>
        </p:nvSpPr>
        <p:spPr>
          <a:xfrm xmlns:a="http://schemas.openxmlformats.org/drawingml/2006/main">
            <a:off x="628650" y="5200650"/>
            <a:ext cx="10782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D39"/>
                </a:solidFill>
                <a:latin typeface="Arial"/>
                <a:ea typeface="Arial"/>
                <a:cs typeface="Arial"/>
              </a:defRPr>
            </a:pPr>
            <a:r>
              <a:rPr sz="1950" b="0">
                <a:solidFill>
                  <a:srgbClr val="123D39"/>
                </a:solidFill>
                <a:latin typeface="Arial"/>
                <a:ea typeface="Arial"/>
                <a:cs typeface="Arial"/>
              </a:rPr>
              <a:t>Commercial hypothesis: institution subscription for training sessions.</a:t>
            </a:r>
          </a:p>
        </p:txBody>
      </p:sp>
      <p:sp>
        <p:nvSpPr>
          <p:cNvPr id="9" name="">
            <a:extLst xmlns:a="http://schemas.openxmlformats.org/drawingml/2006/main">
              <a:ext uri="{FF2B5EF4-FFF2-40B4-BE49-F238E27FC236}">
                <a16:creationId xmlns:a16="http://schemas.microsoft.com/office/drawing/2014/main" id="{633BC5C1-5033-40F1-B852-98FF2EA3156D}"/>
              </a:ext>
            </a:extLst>
          </p:cNvPr>
          <p:cNvSpPr>
            <a:spLocks xmlns:a="http://schemas.openxmlformats.org/drawingml/2006/main" noGrp="1"/>
          </p:cNvSpPr>
          <p:nvPr/>
        </p:nvSpPr>
        <p:spPr>
          <a:xfrm xmlns:a="http://schemas.openxmlformats.org/drawingml/2006/main">
            <a:off x="628650" y="5962650"/>
            <a:ext cx="9620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8716B"/>
                </a:solidFill>
                <a:latin typeface="Arial"/>
                <a:ea typeface="Arial"/>
                <a:cs typeface="Arial"/>
              </a:defRPr>
            </a:pPr>
            <a:r>
              <a:rPr sz="1275" b="0">
                <a:solidFill>
                  <a:srgbClr val="58716B"/>
                </a:solidFill>
                <a:latin typeface="Arial"/>
                <a:ea typeface="Arial"/>
                <a:cs typeface="Arial"/>
              </a:rPr>
              <a:t>Customer demand, pricing and clinical benefit remain unvalidated.</a:t>
            </a:r>
          </a:p>
        </p:txBody>
      </p:sp>
    </p:spTree>
    <p:extLst>
      <p:ext uri="{BB962C8B-B14F-4D97-AF65-F5344CB8AC3E}">
        <p14:creationId xmlns:p14="http://schemas.microsoft.com/office/powerpoint/2010/main" val="199413462"/>
      </p:ext>
    </p:extLst>
  </p:cSld>
</p:sld>
</file>

<file path=ppt/slides/slide7.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73E53F4-065B-418C-82F7-96153C1D908E}"/>
              </a:ext>
            </a:extLst>
          </p:cNvPr>
          <p:cNvSpPr>
            <a:spLocks xmlns:a="http://schemas.openxmlformats.org/drawingml/2006/main" noGrp="1"/>
          </p:cNvSpPr>
          <p:nvPr/>
        </p:nvSpPr>
        <p:spPr>
          <a:xfrm xmlns:a="http://schemas.openxmlformats.org/drawingml/2006/main">
            <a:off x="628650" y="361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8716B"/>
                </a:solidFill>
                <a:latin typeface="Arial"/>
                <a:ea typeface="Arial"/>
                <a:cs typeface="Arial"/>
              </a:defRPr>
            </a:pPr>
            <a:r>
              <a:rPr sz="1350" b="1">
                <a:solidFill>
                  <a:srgbClr val="58716B"/>
                </a:solidFill>
                <a:latin typeface="Arial"/>
                <a:ea typeface="Arial"/>
                <a:cs typeface="Arial"/>
              </a:rPr>
              <a:t>CARETHREAD</a:t>
            </a:r>
          </a:p>
        </p:txBody>
      </p:sp>
      <p:sp>
        <p:nvSpPr>
          <p:cNvPr id="2" name="">
            <a:extLst xmlns:a="http://schemas.openxmlformats.org/drawingml/2006/main">
              <a:ext uri="{FF2B5EF4-FFF2-40B4-BE49-F238E27FC236}">
                <a16:creationId xmlns:a16="http://schemas.microsoft.com/office/drawing/2014/main" id="{601F463B-415E-4399-9EA3-2EAE34E62458}"/>
              </a:ext>
            </a:extLst>
          </p:cNvPr>
          <p:cNvSpPr>
            <a:spLocks xmlns:a="http://schemas.openxmlformats.org/drawingml/2006/main" noGrp="1"/>
          </p:cNvSpPr>
          <p:nvPr/>
        </p:nvSpPr>
        <p:spPr>
          <a:xfrm xmlns:a="http://schemas.openxmlformats.org/drawingml/2006/main">
            <a:off x="628650" y="1000125"/>
            <a:ext cx="10934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D39"/>
                </a:solidFill>
                <a:latin typeface="Arial"/>
                <a:ea typeface="Arial"/>
                <a:cs typeface="Arial"/>
              </a:defRPr>
            </a:pPr>
            <a:r>
              <a:rPr sz="3900" b="1">
                <a:solidFill>
                  <a:srgbClr val="123D39"/>
                </a:solidFill>
                <a:latin typeface="Arial"/>
                <a:ea typeface="Arial"/>
                <a:cs typeface="Arial"/>
              </a:rPr>
              <a:t>Validation and limitations</a:t>
            </a:r>
          </a:p>
        </p:txBody>
      </p:sp>
      <p:sp>
        <p:nvSpPr>
          <p:cNvPr id="3" name="">
            <a:extLst xmlns:a="http://schemas.openxmlformats.org/drawingml/2006/main">
              <a:ext uri="{FF2B5EF4-FFF2-40B4-BE49-F238E27FC236}">
                <a16:creationId xmlns:a16="http://schemas.microsoft.com/office/drawing/2014/main" id="{271B22F7-AA82-4F71-AD02-8FC3F7E5621E}"/>
              </a:ext>
            </a:extLst>
          </p:cNvPr>
          <p:cNvSpPr>
            <a:spLocks xmlns:a="http://schemas.openxmlformats.org/drawingml/2006/main" noGrp="1"/>
          </p:cNvSpPr>
          <p:nvPr/>
        </p:nvSpPr>
        <p:spPr>
          <a:xfrm xmlns:a="http://schemas.openxmlformats.org/drawingml/2006/main">
            <a:off x="10620375" y="6210300"/>
            <a:ext cx="1000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716B"/>
                </a:solidFill>
                <a:latin typeface="Arial"/>
                <a:ea typeface="Arial"/>
                <a:cs typeface="Arial"/>
              </a:defRPr>
            </a:pPr>
            <a:r>
              <a:rPr sz="1200" b="0">
                <a:solidFill>
                  <a:srgbClr val="58716B"/>
                </a:solidFill>
                <a:latin typeface="Arial"/>
                <a:ea typeface="Arial"/>
                <a:cs typeface="Arial"/>
              </a:rPr>
              <a:t>07 / 08</a:t>
            </a:r>
          </a:p>
        </p:txBody>
      </p:sp>
      <p:sp>
        <p:nvSpPr>
          <p:cNvPr id="4" name="">
            <a:extLst xmlns:a="http://schemas.openxmlformats.org/drawingml/2006/main">
              <a:ext uri="{FF2B5EF4-FFF2-40B4-BE49-F238E27FC236}">
                <a16:creationId xmlns:a16="http://schemas.microsoft.com/office/drawing/2014/main" id="{E6BF3474-A165-492E-AF03-6A22091940DE}"/>
              </a:ext>
            </a:extLst>
          </p:cNvPr>
          <p:cNvSpPr>
            <a:spLocks xmlns:a="http://schemas.openxmlformats.org/drawingml/2006/main" noGrp="1"/>
          </p:cNvSpPr>
          <p:nvPr/>
        </p:nvSpPr>
        <p:spPr>
          <a:xfrm xmlns:a="http://schemas.openxmlformats.org/drawingml/2006/main">
            <a:off x="628650" y="24384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73A37"/>
                </a:solidFill>
                <a:latin typeface="Arial"/>
                <a:ea typeface="Arial"/>
                <a:cs typeface="Arial"/>
              </a:defRPr>
            </a:pPr>
            <a:r>
              <a:rPr sz="2925" b="1">
                <a:solidFill>
                  <a:srgbClr val="073A37"/>
                </a:solidFill>
                <a:latin typeface="Arial"/>
                <a:ea typeface="Arial"/>
                <a:cs typeface="Arial"/>
              </a:rPr>
              <a:t>78 automated checks passed</a:t>
            </a:r>
          </a:p>
        </p:txBody>
      </p:sp>
      <p:sp>
        <p:nvSpPr>
          <p:cNvPr id="5" name="">
            <a:extLst xmlns:a="http://schemas.openxmlformats.org/drawingml/2006/main">
              <a:ext uri="{FF2B5EF4-FFF2-40B4-BE49-F238E27FC236}">
                <a16:creationId xmlns:a16="http://schemas.microsoft.com/office/drawing/2014/main" id="{081B825D-3C5A-4E2D-B75A-4CD63E06D30C}"/>
              </a:ext>
            </a:extLst>
          </p:cNvPr>
          <p:cNvSpPr>
            <a:spLocks xmlns:a="http://schemas.openxmlformats.org/drawingml/2006/main" noGrp="1"/>
          </p:cNvSpPr>
          <p:nvPr/>
        </p:nvSpPr>
        <p:spPr>
          <a:xfrm xmlns:a="http://schemas.openxmlformats.org/drawingml/2006/main">
            <a:off x="628650" y="3381375"/>
            <a:ext cx="10715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3D39"/>
                </a:solidFill>
                <a:latin typeface="Arial"/>
                <a:ea typeface="Arial"/>
                <a:cs typeface="Arial"/>
              </a:defRPr>
            </a:pPr>
            <a:r>
              <a:rPr sz="2100" b="0">
                <a:solidFill>
                  <a:srgbClr val="123D39"/>
                </a:solidFill>
                <a:latin typeface="Arial"/>
                <a:ea typeface="Arial"/>
                <a:cs typeface="Arial"/>
              </a:rPr>
              <a:t>State, storage, access and planner checks passed</a:t>
            </a:r>
          </a:p>
        </p:txBody>
      </p:sp>
      <p:sp>
        <p:nvSpPr>
          <p:cNvPr id="6" name="">
            <a:extLst xmlns:a="http://schemas.openxmlformats.org/drawingml/2006/main">
              <a:ext uri="{FF2B5EF4-FFF2-40B4-BE49-F238E27FC236}">
                <a16:creationId xmlns:a16="http://schemas.microsoft.com/office/drawing/2014/main" id="{20EDB611-AA74-4FB1-8E05-FDAAAD959A26}"/>
              </a:ext>
            </a:extLst>
          </p:cNvPr>
          <p:cNvSpPr>
            <a:spLocks xmlns:a="http://schemas.openxmlformats.org/drawingml/2006/main" noGrp="1"/>
          </p:cNvSpPr>
          <p:nvPr/>
        </p:nvSpPr>
        <p:spPr>
          <a:xfrm xmlns:a="http://schemas.openxmlformats.org/drawingml/2006/main">
            <a:off x="628650" y="3952875"/>
            <a:ext cx="10715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3D39"/>
                </a:solidFill>
                <a:latin typeface="Arial"/>
                <a:ea typeface="Arial"/>
                <a:cs typeface="Arial"/>
              </a:defRPr>
            </a:pPr>
            <a:r>
              <a:rPr sz="2100" b="0">
                <a:solidFill>
                  <a:srgbClr val="123D39"/>
                </a:solidFill>
                <a:latin typeface="Arial"/>
                <a:ea typeface="Arial"/>
                <a:cs typeface="Arial"/>
              </a:rPr>
              <a:t>One synthetic spoken fixture reached validated board state</a:t>
            </a:r>
          </a:p>
        </p:txBody>
      </p:sp>
      <p:sp>
        <p:nvSpPr>
          <p:cNvPr id="7" name="">
            <a:extLst xmlns:a="http://schemas.openxmlformats.org/drawingml/2006/main">
              <a:ext uri="{FF2B5EF4-FFF2-40B4-BE49-F238E27FC236}">
                <a16:creationId xmlns:a16="http://schemas.microsoft.com/office/drawing/2014/main" id="{24011C35-D029-4D9A-A636-DBE3A9479F46}"/>
              </a:ext>
            </a:extLst>
          </p:cNvPr>
          <p:cNvSpPr>
            <a:spLocks xmlns:a="http://schemas.openxmlformats.org/drawingml/2006/main" noGrp="1"/>
          </p:cNvSpPr>
          <p:nvPr/>
        </p:nvSpPr>
        <p:spPr>
          <a:xfrm xmlns:a="http://schemas.openxmlformats.org/drawingml/2006/main">
            <a:off x="628650" y="4524375"/>
            <a:ext cx="10715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3D39"/>
                </a:solidFill>
                <a:latin typeface="Arial"/>
                <a:ea typeface="Arial"/>
                <a:cs typeface="Arial"/>
              </a:defRPr>
            </a:pPr>
            <a:r>
              <a:rPr sz="2100" b="0">
                <a:solidFill>
                  <a:srgbClr val="123D39"/>
                </a:solidFill>
                <a:latin typeface="Arial"/>
                <a:ea typeface="Arial"/>
                <a:cs typeface="Arial"/>
              </a:rPr>
              <a:t>Device microphone and clinical reliability remain unvalidated</a:t>
            </a:r>
          </a:p>
        </p:txBody>
      </p:sp>
      <p:sp>
        <p:nvSpPr>
          <p:cNvPr id="8" name="">
            <a:extLst xmlns:a="http://schemas.openxmlformats.org/drawingml/2006/main">
              <a:ext uri="{FF2B5EF4-FFF2-40B4-BE49-F238E27FC236}">
                <a16:creationId xmlns:a16="http://schemas.microsoft.com/office/drawing/2014/main" id="{581F699D-1F5A-4415-9836-0567F226B395}"/>
              </a:ext>
            </a:extLst>
          </p:cNvPr>
          <p:cNvSpPr>
            <a:spLocks xmlns:a="http://schemas.openxmlformats.org/drawingml/2006/main" noGrp="1"/>
          </p:cNvSpPr>
          <p:nvPr/>
        </p:nvSpPr>
        <p:spPr>
          <a:xfrm xmlns:a="http://schemas.openxmlformats.org/drawingml/2006/main">
            <a:off x="628650" y="52959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73A37"/>
                </a:solidFill>
                <a:latin typeface="Arial"/>
                <a:ea typeface="Arial"/>
                <a:cs typeface="Arial"/>
              </a:defRPr>
            </a:pPr>
            <a:r>
              <a:rPr sz="1950" b="1">
                <a:solidFill>
                  <a:srgbClr val="073A37"/>
                </a:solidFill>
                <a:latin typeface="Arial"/>
                <a:ea typeface="Arial"/>
                <a:cs typeface="Arial"/>
              </a:rPr>
              <a:t>No patient-outcome evidence or clinical deployment claim</a:t>
            </a:r>
          </a:p>
        </p:txBody>
      </p:sp>
      <p:sp>
        <p:nvSpPr>
          <p:cNvPr id="9" name="">
            <a:extLst xmlns:a="http://schemas.openxmlformats.org/drawingml/2006/main">
              <a:ext uri="{FF2B5EF4-FFF2-40B4-BE49-F238E27FC236}">
                <a16:creationId xmlns:a16="http://schemas.microsoft.com/office/drawing/2014/main" id="{A224F286-0672-43E9-93F9-5C6632D2F88A}"/>
              </a:ext>
            </a:extLst>
          </p:cNvPr>
          <p:cNvSpPr>
            <a:spLocks xmlns:a="http://schemas.openxmlformats.org/drawingml/2006/main" noGrp="1"/>
          </p:cNvSpPr>
          <p:nvPr/>
        </p:nvSpPr>
        <p:spPr>
          <a:xfrm xmlns:a="http://schemas.openxmlformats.org/drawingml/2006/main">
            <a:off x="628650" y="5962650"/>
            <a:ext cx="9620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8716B"/>
                </a:solidFill>
                <a:latin typeface="Arial"/>
                <a:ea typeface="Arial"/>
                <a:cs typeface="Arial"/>
              </a:defRPr>
            </a:pPr>
            <a:r>
              <a:rPr sz="1275" b="0">
                <a:solidFill>
                  <a:srgbClr val="58716B"/>
                </a:solidFill>
                <a:latin typeface="Arial"/>
                <a:ea typeface="Arial"/>
                <a:cs typeface="Arial"/>
              </a:rPr>
              <a:t>Reported checks describe this prototype only. Live speech and clinical outcomes require separate evidence.</a:t>
            </a:r>
          </a:p>
        </p:txBody>
      </p:sp>
    </p:spTree>
    <p:extLst>
      <p:ext uri="{BB962C8B-B14F-4D97-AF65-F5344CB8AC3E}">
        <p14:creationId xmlns:p14="http://schemas.microsoft.com/office/powerpoint/2010/main" val="761598090"/>
      </p:ext>
    </p:extLst>
  </p:cSld>
</p:sld>
</file>

<file path=ppt/slides/slide8.xml><?xml version="1.0" encoding="utf-8"?>
<p:sld xmlns:p="http://schemas.openxmlformats.org/presentationml/2006/main">
  <p:cSld>
    <p:bg>
      <p:bgPr>
        <a:solidFill xmlns:a="http://schemas.openxmlformats.org/drawingml/2006/main">
          <a:srgbClr val="073A3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41304C9-BA3B-4F15-A66B-14C4C9EB169C}"/>
              </a:ext>
            </a:extLst>
          </p:cNvPr>
          <p:cNvSpPr>
            <a:spLocks xmlns:a="http://schemas.openxmlformats.org/drawingml/2006/main" noGrp="1"/>
          </p:cNvSpPr>
          <p:nvPr/>
        </p:nvSpPr>
        <p:spPr>
          <a:xfrm xmlns:a="http://schemas.openxmlformats.org/drawingml/2006/main">
            <a:off x="628650" y="361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A9C4BA"/>
                </a:solidFill>
                <a:latin typeface="Arial"/>
                <a:ea typeface="Arial"/>
                <a:cs typeface="Arial"/>
              </a:defRPr>
            </a:pPr>
            <a:r>
              <a:rPr sz="1350" b="1">
                <a:solidFill>
                  <a:srgbClr val="A9C4BA"/>
                </a:solidFill>
                <a:latin typeface="Arial"/>
                <a:ea typeface="Arial"/>
                <a:cs typeface="Arial"/>
              </a:rPr>
              <a:t>CARETHREAD</a:t>
            </a:r>
          </a:p>
        </p:txBody>
      </p:sp>
      <p:sp>
        <p:nvSpPr>
          <p:cNvPr id="2" name="">
            <a:extLst xmlns:a="http://schemas.openxmlformats.org/drawingml/2006/main">
              <a:ext uri="{FF2B5EF4-FFF2-40B4-BE49-F238E27FC236}">
                <a16:creationId xmlns:a16="http://schemas.microsoft.com/office/drawing/2014/main" id="{8A713EC3-F7E7-4858-97AF-8D18D0DFA9EF}"/>
              </a:ext>
            </a:extLst>
          </p:cNvPr>
          <p:cNvSpPr>
            <a:spLocks xmlns:a="http://schemas.openxmlformats.org/drawingml/2006/main" noGrp="1"/>
          </p:cNvSpPr>
          <p:nvPr/>
        </p:nvSpPr>
        <p:spPr>
          <a:xfrm xmlns:a="http://schemas.openxmlformats.org/drawingml/2006/main">
            <a:off x="628650" y="1000125"/>
            <a:ext cx="10934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CareThread keeps the handoff reviewable</a:t>
            </a:r>
          </a:p>
        </p:txBody>
      </p:sp>
      <p:sp>
        <p:nvSpPr>
          <p:cNvPr id="3" name="">
            <a:extLst xmlns:a="http://schemas.openxmlformats.org/drawingml/2006/main">
              <a:ext uri="{FF2B5EF4-FFF2-40B4-BE49-F238E27FC236}">
                <a16:creationId xmlns:a16="http://schemas.microsoft.com/office/drawing/2014/main" id="{7418F99E-FE7C-4112-8FF8-E92EA14B8DE4}"/>
              </a:ext>
            </a:extLst>
          </p:cNvPr>
          <p:cNvSpPr>
            <a:spLocks xmlns:a="http://schemas.openxmlformats.org/drawingml/2006/main" noGrp="1"/>
          </p:cNvSpPr>
          <p:nvPr/>
        </p:nvSpPr>
        <p:spPr>
          <a:xfrm xmlns:a="http://schemas.openxmlformats.org/drawingml/2006/main">
            <a:off x="10620375" y="6210300"/>
            <a:ext cx="1000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9C4BA"/>
                </a:solidFill>
                <a:latin typeface="Arial"/>
                <a:ea typeface="Arial"/>
                <a:cs typeface="Arial"/>
              </a:defRPr>
            </a:pPr>
            <a:r>
              <a:rPr sz="1200" b="0">
                <a:solidFill>
                  <a:srgbClr val="A9C4BA"/>
                </a:solidFill>
                <a:latin typeface="Arial"/>
                <a:ea typeface="Arial"/>
                <a:cs typeface="Arial"/>
              </a:rPr>
              <a:t>08 / 08</a:t>
            </a:r>
          </a:p>
        </p:txBody>
      </p:sp>
      <p:sp>
        <p:nvSpPr>
          <p:cNvPr id="4" name="">
            <a:extLst xmlns:a="http://schemas.openxmlformats.org/drawingml/2006/main">
              <a:ext uri="{FF2B5EF4-FFF2-40B4-BE49-F238E27FC236}">
                <a16:creationId xmlns:a16="http://schemas.microsoft.com/office/drawing/2014/main" id="{9E34583B-AD66-4E25-A7FF-9658B7718172}"/>
              </a:ext>
            </a:extLst>
          </p:cNvPr>
          <p:cNvSpPr>
            <a:spLocks xmlns:a="http://schemas.openxmlformats.org/drawingml/2006/main" noGrp="1"/>
          </p:cNvSpPr>
          <p:nvPr/>
        </p:nvSpPr>
        <p:spPr>
          <a:xfrm xmlns:a="http://schemas.openxmlformats.org/drawingml/2006/main">
            <a:off x="590550" y="2362200"/>
            <a:ext cx="1028700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Every open item keeps</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its owner, timing</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and source statement.</a:t>
            </a:r>
          </a:p>
        </p:txBody>
      </p:sp>
      <p:sp>
        <p:nvSpPr>
          <p:cNvPr id="5" name="">
            <a:extLst xmlns:a="http://schemas.openxmlformats.org/drawingml/2006/main">
              <a:ext uri="{FF2B5EF4-FFF2-40B4-BE49-F238E27FC236}">
                <a16:creationId xmlns:a16="http://schemas.microsoft.com/office/drawing/2014/main" id="{4B7FF70F-10C5-49AA-9A31-FF77E77B6B96}"/>
              </a:ext>
            </a:extLst>
          </p:cNvPr>
          <p:cNvSpPr>
            <a:spLocks xmlns:a="http://schemas.openxmlformats.org/drawingml/2006/main" noGrp="1"/>
          </p:cNvSpPr>
          <p:nvPr/>
        </p:nvSpPr>
        <p:spPr>
          <a:xfrm xmlns:a="http://schemas.openxmlformats.org/drawingml/2006/main">
            <a:off x="628650" y="5133975"/>
            <a:ext cx="1028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D7FF78"/>
                </a:solidFill>
                <a:latin typeface="Arial"/>
                <a:ea typeface="Arial"/>
                <a:cs typeface="Arial"/>
              </a:defRPr>
            </a:pPr>
            <a:r>
              <a:rPr sz="2175" b="0">
                <a:solidFill>
                  <a:srgbClr val="D7FF78"/>
                </a:solidFill>
                <a:latin typeface="Arial"/>
                <a:ea typeface="Arial"/>
                <a:cs typeface="Arial"/>
              </a:rPr>
              <a:t>Next: clinician feedback on the simulation</a:t>
            </a:r>
          </a:p>
          <a:p xmlns:a="http://schemas.openxmlformats.org/drawingml/2006/main">
            <a:pPr>
              <a:defRPr sz="2175" b="0">
                <a:solidFill>
                  <a:srgbClr val="D7FF78"/>
                </a:solidFill>
                <a:latin typeface="Arial"/>
                <a:ea typeface="Arial"/>
                <a:cs typeface="Arial"/>
              </a:defRPr>
            </a:pPr>
            <a:r>
              <a:rPr sz="2175" b="0">
                <a:solidFill>
                  <a:srgbClr val="D7FF78"/>
                </a:solidFill>
                <a:latin typeface="Arial"/>
                <a:ea typeface="Arial"/>
                <a:cs typeface="Arial"/>
              </a:rPr>
              <a:t>and measured handoff usability.</a:t>
            </a:r>
          </a:p>
        </p:txBody>
      </p:sp>
      <p:sp>
        <p:nvSpPr>
          <p:cNvPr id="6" name="">
            <a:extLst xmlns:a="http://schemas.openxmlformats.org/drawingml/2006/main">
              <a:ext uri="{FF2B5EF4-FFF2-40B4-BE49-F238E27FC236}">
                <a16:creationId xmlns:a16="http://schemas.microsoft.com/office/drawing/2014/main" id="{486412AD-60A7-4926-98B7-2321CBC772FE}"/>
              </a:ext>
            </a:extLst>
          </p:cNvPr>
          <p:cNvSpPr>
            <a:spLocks xmlns:a="http://schemas.openxmlformats.org/drawingml/2006/main" noGrp="1"/>
          </p:cNvSpPr>
          <p:nvPr/>
        </p:nvSpPr>
        <p:spPr>
          <a:xfrm xmlns:a="http://schemas.openxmlformats.org/drawingml/2006/main">
            <a:off x="628650" y="5962650"/>
            <a:ext cx="9620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9C4BA"/>
                </a:solidFill>
                <a:latin typeface="Arial"/>
                <a:ea typeface="Arial"/>
                <a:cs typeface="Arial"/>
              </a:defRPr>
            </a:pPr>
            <a:r>
              <a:rPr sz="1275" b="0">
                <a:solidFill>
                  <a:srgbClr val="A9C4BA"/>
                </a:solidFill>
                <a:latin typeface="Arial"/>
                <a:ea typeface="Arial"/>
                <a:cs typeface="Arial"/>
              </a:rPr>
              <a:t>Synthetic scenario replay is separate from live microphone mode. No diagnosis or treatment decisions.</a:t>
            </a:r>
          </a:p>
        </p:txBody>
      </p:sp>
    </p:spTree>
    <p:extLst>
      <p:ext uri="{BB962C8B-B14F-4D97-AF65-F5344CB8AC3E}">
        <p14:creationId xmlns:p14="http://schemas.microsoft.com/office/powerpoint/2010/main" val="17092788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2026-09-30T08:58:35.5890000Z</dcterms:created>
  <dcterms:modified xsi:type="dcterms:W3CDTF">2026-09-30T08:58:35.5890000Z</dcterms:modified>
</coreProperties>
</file>